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 seconds]</a:t>
            </a:r>
          </a:p>
          <a:p>
            <a:r>
              <a:t>"Good morning. I'm [Name] from [Affiliation]. My talk is about using statistics to detect audio deepfakes — specifically, which acoustic features can identify fake audio even after it's been compressed by telephone codecs."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seconds]</a:t>
            </a:r>
          </a:p>
          <a:p>
            <a:r>
              <a:t>"Here's the problem. We train a detector on clean studio audio — 25,000 files from the ASVspoof challenge. In the lab, the best model achieves 7 percent error. Then we deploy it on codec-compressed audio. Error jumps to 50 percent — random chance. Useless."</a:t>
            </a:r>
          </a:p>
          <a:p/>
          <a:p>
            <a:r>
              <a:t>[Point to bar chart]</a:t>
            </a:r>
          </a:p>
          <a:p>
            <a:r>
              <a:t>"The red bars: all 36 features — 7 percent in the lab, 50 percent after codecs. Collapsed. The green bars: formant features — 17 percent in the lab, 23 percent after codecs. Not great, but they don't collapse."</a:t>
            </a:r>
          </a:p>
          <a:p/>
          <a:p>
            <a:r>
              <a:t>VERIFIED NUMBERS: All-36 MLP: dev=7.35%, 2021=50.68%. Top4 LogReg: dev=16.63%, 2021=23.97%.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seconds]</a:t>
            </a:r>
          </a:p>
          <a:p>
            <a:r>
              <a:t>"We extract 36 numbers from each audio file in four groups. PNCC — 13 numbers capturing spectral shape using an ear-like filterbank. LFCC — 8 numbers for fine spectral detail. Formants — 8 numbers measuring mouth-shape resonances. Prosody — 7 numbers for pitch, energy, and rhythm."</a:t>
            </a:r>
          </a:p>
          <a:p/>
          <a:p>
            <a:r>
              <a:t>"The question: which of these 36 survive compression AND detect fakes?"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seconds]</a:t>
            </a:r>
          </a:p>
          <a:p>
            <a:r>
              <a:t>"Before testing, we check the data shape. Most features are near bell-shaped — 34 out of 36. This means standard statistical tests are valid. For the two that aren't, we use rank-based tests."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seconds]</a:t>
            </a:r>
          </a:p>
          <a:p>
            <a:r>
              <a:t>"This chart ranks all 36 features by detection power — AUC, where 0.5 is a coin flip."</a:t>
            </a:r>
          </a:p>
          <a:p/>
          <a:p>
            <a:r>
              <a:t>[Point to top]</a:t>
            </a:r>
          </a:p>
          <a:p>
            <a:r>
              <a:t>"The top four are ALL green — formant features. F1 mean at 0.855, F1 bandwidth at 0.851."</a:t>
            </a:r>
          </a:p>
          <a:p/>
          <a:p>
            <a:r>
              <a:t>[Point to bottom]</a:t>
            </a:r>
          </a:p>
          <a:p>
            <a:r>
              <a:t>"The blue bars — PNCC — cluster around 0.5 to 0.63. Weak. The orange — LFCC — middling, but codecs destroy them."</a:t>
            </a:r>
          </a:p>
          <a:p/>
          <a:p>
            <a:r>
              <a:t>"Out of 36, only 4 have AUC above 0.8. All four measure the first formant."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seconds]</a:t>
            </a:r>
          </a:p>
          <a:p>
            <a:r>
              <a:t>"Second test: do they survive compression? We compressed 150 files through 9 codecs and measured how much each feature changed."</a:t>
            </a:r>
          </a:p>
          <a:p/>
          <a:p>
            <a:r>
              <a:t>[Point to table]</a:t>
            </a:r>
          </a:p>
          <a:p>
            <a:r>
              <a:t>"Prosody: 3 percent change. Formants: 6 percent. PNCC: 6 percent — but remember it can't detect fakes. LFCC: 39 percent average, worst case 120 percent — more than doubled."</a:t>
            </a:r>
          </a:p>
          <a:p/>
          <a:p>
            <a:r>
              <a:t>"This is why the all-36 model collapsed. It relied on LFCC features that codecs destroyed."</a:t>
            </a:r>
          </a:p>
          <a:p/>
          <a:p>
            <a:r>
              <a:t>VERIFIED: These percentages come from comprehensive_feature_analysis_v4_fixed/analysis_summary.json, computed as MAE / mean_feature_value × 100.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seconds]</a:t>
            </a:r>
          </a:p>
          <a:p>
            <a:r>
              <a:t>"Here's what the difference looks like. Four panels, four features. Green is real, red is fake."</a:t>
            </a:r>
          </a:p>
          <a:p/>
          <a:p>
            <a:r>
              <a:t>"F1 bandwidth — top right. Real averages 515 hertz, fake averages 361. A 154-hertz gap. You can see the separation by eye."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seconds]</a:t>
            </a:r>
          </a:p>
          <a:p>
            <a:r>
              <a:t>"Why do formants differ? Your mouth and throat form a tube with resonances. This tube absorbs energy — tissue damping, nasal coupling. That makes resonances wide. 515 hertz for F1."</a:t>
            </a:r>
          </a:p>
          <a:p/>
          <a:p>
            <a:r>
              <a:t>"A voice synthesizer models the spectral shape mathematically. It optimizes a reconstruction loss that pulls everything toward the average. No physical damping. Narrow resonances. 361 hertz."</a:t>
            </a:r>
          </a:p>
          <a:p/>
          <a:p>
            <a:r>
              <a:t>"Codecs preserve this because they MUST preserve formants for speech to be understandable. The 154-hertz gap — which is 1.32 standard deviations — survives all 9 tested codecs."</a:t>
            </a:r>
          </a:p>
          <a:p/>
          <a:p>
            <a:r>
              <a:t>NOTE: The 'vocoders narrow formants due to L1/L2 loss' is our hypothesis, not a cited fact. If asked, say: 'This is our proposed explanation based on the regression-to-mean property of reconstruction losses.'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seconds]</a:t>
            </a:r>
          </a:p>
          <a:p>
            <a:r>
              <a:t>"We trained five classifiers on 15 formant-plus-prosody features."</a:t>
            </a:r>
          </a:p>
          <a:p/>
          <a:p>
            <a:r>
              <a:t>[Point to ROC curves]</a:t>
            </a:r>
          </a:p>
          <a:p>
            <a:r>
              <a:t>"SVM achieves 11.4 percent error in the lab, 17.2 on unseen attacks, 21.5 after codecs."</a:t>
            </a:r>
          </a:p>
          <a:p/>
          <a:p>
            <a:r>
              <a:t>[Point to table]</a:t>
            </a:r>
          </a:p>
          <a:p>
            <a:r>
              <a:t>"All five models degrade from 11-17 percent to 21-25 percent. Graceful degradation, not collapse."</a:t>
            </a:r>
          </a:p>
          <a:p/>
          <a:p>
            <a:r>
              <a:t>"For comparison: all 36 features with MLP — 7.4 percent in the lab, 50.7 percent after codecs. Collapsed. Saved in all_classifier_results_VERIFIED.json."</a:t>
            </a:r>
          </a:p>
          <a:p/>
          <a:p>
            <a:r>
              <a:t>"These aren't state-of-the-art — best neural systems get 1.9 percent. But these are interpretable."</a:t>
            </a:r>
          </a:p>
          <a:p/>
          <a:p>
            <a:r>
              <a:t>VERIFIED: SVM dev=11.38%, eval=17.21%, 2021=21.49%. All from ml_classifier_results.json.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seconds]</a:t>
            </a:r>
          </a:p>
          <a:p>
            <a:r>
              <a:t>"Top: error rate per codec. Formant row is green — 19 to 24 percent everywhere. All-36 row is red — 50 percent on every codec."</a:t>
            </a:r>
          </a:p>
          <a:p/>
          <a:p>
            <a:r>
              <a:t>"Bottom: feature importance. F1 bandwidth is 26 percent of the Random Forest's decisions."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seconds]</a:t>
            </a:r>
          </a:p>
          <a:p>
            <a:r>
              <a:t>"Out of 36 features, only 4 reliably detect deepfakes after compression. All four measure the first formant."</a:t>
            </a:r>
          </a:p>
          <a:p/>
          <a:p>
            <a:r>
              <a:t>"Real speech: 515 hertz bandwidth. Fake: 361 hertz. A large, consistent gap that survives all codecs because codecs must preserve formants for intelligibility."</a:t>
            </a:r>
          </a:p>
          <a:p/>
          <a:p>
            <a:r>
              <a:t>"Detectors using only stable features degrade gracefully — 17 to 23 percent. Detectors using all features collapse to 50 percent. Feature selection based on codec robustness prevents this."</a:t>
            </a:r>
          </a:p>
          <a:p/>
          <a:p>
            <a:r>
              <a:t>"Three attacks — A17, A18, A19 — defeat formant features entirely with error rates above 48 percent. These use advanced waveform-level voice conversion. Formant features are a reliable floor, not a ceiling."</a:t>
            </a:r>
          </a:p>
          <a:p/>
          <a:p>
            <a:r>
              <a:t>VERIFIED: A17=52.56%, A18=48.24%, A19=48.13% from per_attack_results_VERIFIED.json.</a:t>
            </a:r>
          </a:p>
          <a:p/>
          <a:p>
            <a:r>
              <a:t>[Pause]</a:t>
            </a:r>
          </a:p>
          <a:p>
            <a:r>
              <a:t>"Thank you. I'm happy to take questions."</a:t>
            </a:r>
          </a:p>
          <a:p/>
          <a:p>
            <a:r>
              <a:t>TOTAL: ~6:15 speaking + ~1:45 transitions = 8:00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seconds]</a:t>
            </a:r>
          </a:p>
          <a:p/>
          <a:p>
            <a:r>
              <a:t>"This is the ablation study. Each cluster shows a different feature combination tested on three conditions."</a:t>
            </a:r>
          </a:p>
          <a:p/>
          <a:p>
            <a:r>
              <a:t>[Point to left side]</a:t>
            </a:r>
          </a:p>
          <a:p>
            <a:r>
              <a:t>"Left side — green: Prosody alone, Top 4 Formants, Formants plus Prosody. All stay between 21 and 23 percent on compressed audio. Stable."</a:t>
            </a:r>
          </a:p>
          <a:p/>
          <a:p>
            <a:r>
              <a:t>[Point to right side]</a:t>
            </a:r>
          </a:p>
          <a:p>
            <a:r>
              <a:t>"Right side — red: anything with PNCC or LFCC. PNCC alone: 50 percent. LFCC alone: 42 percent. And here's the critical finding: PNCC plus Formants — 50 percent. Adding PNCC to formants didn't just fail to help, it DESTROYED the detector. Formants alone would have been 29 percent."</a:t>
            </a:r>
          </a:p>
          <a:p/>
          <a:p>
            <a:r>
              <a:t>"The all-36 model at the far right: 10 percent in the lab, 50 percent after codecs. The best lab result is the worst deployed result."</a:t>
            </a:r>
          </a:p>
          <a:p/>
          <a:p>
            <a:r>
              <a:t>VERIFIED: All numbers from ablation_all_groups_VERIFIED.json</a:t>
            </a:r>
          </a:p>
          <a:p>
            <a:r>
              <a:t>[Click]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Statistics for Audio Deepfake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96C7"/>
                </a:solidFill>
                <a:latin typeface="Calibri"/>
              </a:defRPr>
            </a:pPr>
            <a:r>
              <a:t>Which Acoustic Features Identify Deepfakes</a:t>
            </a:r>
            <a:br/>
            <a:r>
              <a:t>Regardless of Codec Compression?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[Your Name]  •  [Affiliation]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MCCNNY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We want to detect fake audio (deepfakes).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Train a detector on clean studio recordings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Deploy it on phone calls, VoIP, social media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Phone networks compress audio (codecs)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Compression distorts the features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Detector stops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9144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The numbers: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In the lab: 7% error rate (good)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After compression: 50% error rate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  (same as a coin flip — useless)</a:t>
            </a: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Question: which features survive?</a:t>
            </a:r>
          </a:p>
        </p:txBody>
      </p:sp>
      <p:pic>
        <p:nvPicPr>
          <p:cNvPr id="5" name="Picture 4" descr="fig3_eer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74720"/>
            <a:ext cx="91440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Why These 36 Features?</a:t>
            </a:r>
          </a:p>
        </p:txBody>
      </p:sp>
      <p:pic>
        <p:nvPicPr>
          <p:cNvPr id="3" name="Picture 2" descr="fig9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11430000" cy="2926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4 groups, each captures something different about the audio: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206240"/>
            <a:ext cx="2743200" cy="2103120"/>
          </a:xfrm>
          <a:prstGeom prst="roundRect">
            <a:avLst/>
          </a:prstGeom>
          <a:solidFill>
            <a:srgbClr val="1A3A5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  <a:latin typeface="Calibri"/>
              </a:defRPr>
            </a:pPr>
            <a:r>
              <a:t>PNCC (13 dims)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Spectral shape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Models how the ear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hears sound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(gammatone filterbank)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206240"/>
            <a:ext cx="2743200" cy="2103120"/>
          </a:xfrm>
          <a:prstGeom prst="roundRect">
            <a:avLst/>
          </a:prstGeom>
          <a:solidFill>
            <a:srgbClr val="3A2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7E22"/>
                </a:solidFill>
                <a:latin typeface="Calibri"/>
              </a:defRPr>
            </a:pPr>
            <a:r>
              <a:t>LFCC (8 dims)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Spectral detail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Equal resolution at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all frequencies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(catches high-freq artifacts)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206240"/>
            <a:ext cx="2743200" cy="2103120"/>
          </a:xfrm>
          <a:prstGeom prst="roundRect">
            <a:avLst/>
          </a:prstGeom>
          <a:solidFill>
            <a:srgbClr val="1A3A1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Formants (8 dims)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61772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Vocal tract resonances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F1 = jaw opening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F2 = tongue position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(shape of the mouth)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4206240"/>
            <a:ext cx="2560320" cy="2103120"/>
          </a:xfrm>
          <a:prstGeom prst="roundRect">
            <a:avLst/>
          </a:prstGeom>
          <a:solidFill>
            <a:srgbClr val="2A1A3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976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Calibri"/>
              </a:defRPr>
            </a:pPr>
            <a:r>
              <a:t>Prosody (7 dims)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6177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Rhythm &amp; melody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Pitch (F0), energy,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speaking rate,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What Does Our Data Look Like?</a:t>
            </a:r>
          </a:p>
        </p:txBody>
      </p:sp>
      <p:pic>
        <p:nvPicPr>
          <p:cNvPr id="3" name="Picture 2" descr="fig7_distribution_sha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7772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0" y="7315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Distribution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1887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Before choosing statistical tests,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we check if data is bell-shaped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(normally distributed).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Skewness: is it lopsided?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|skew| &lt; 1 = okay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Kurtosis: heavy tails?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|kurt| &lt; 3 = okay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Result: 34 of 36 features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are near-normal.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This means we CAN use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standard statistical tests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(t-test, correlation, etc.)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For the 2 non-normal features,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we use rank-based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Which Features Actually Detect Fakes?</a:t>
            </a:r>
          </a:p>
        </p:txBody>
      </p:sp>
      <p:pic>
        <p:nvPicPr>
          <p:cNvPr id="3" name="Picture 2" descr="fig8_all36_auc_ran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7315200" cy="5669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046720" y="7315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Reading This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188720"/>
            <a:ext cx="384048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Each bar = one feature's ability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to detect fakes (AUC score)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AUC = 0.5 → coin flip (useless)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AUC = 0.7 → okay (red dashed line)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AUC = 0.85 → good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Color = feature group: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Green = Formants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Purple = Prosody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Blue = PNCC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• Orange = LFCC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Only 4 features cross the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0.7 threshold — ALL are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formant features (green).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PNCC (blue) clusters near 0.5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can't detect fakes at 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Calibri"/>
              </a:defRPr>
            </a:pPr>
            <a:r>
              <a:t>How Much Do Codecs Change Each Feature?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Calibri"/>
              </a:defRPr>
            </a:pPr>
            <a:r>
              <a:t>Same file compressed through 9 codecs — how much does the feature value change?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9144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188720"/>
                <a:gridCol w="1371600"/>
                <a:gridCol w="137160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Group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 Features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Avg 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 Change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Worst Codec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Prosody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G.711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VERY STABLE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Formants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G.711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1B5E20"/>
                          </a:solidFill>
                          <a:latin typeface="Calibri"/>
                        </a:defRPr>
                      </a:pPr>
                      <a:r>
                        <a:t>STABLE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PNCC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G.711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C3E50"/>
                          </a:solidFill>
                          <a:latin typeface="Calibri"/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LFCC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120%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G.711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E74C3C"/>
                          </a:solidFill>
                          <a:latin typeface="Calibri"/>
                        </a:defRPr>
                      </a:pPr>
                      <a:r>
                        <a:t>FRAGILE</a:t>
                      </a:r>
                    </a:p>
                  </a:txBody>
                  <a:tcPr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566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Method: 150 files × 9 codecs. Compressed each file, re-extracted features, measured % change.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931920"/>
            <a:ext cx="10972800" cy="2560320"/>
          </a:xfrm>
          <a:prstGeom prst="roundRect">
            <a:avLst/>
          </a:prstGeom>
          <a:solidFill>
            <a:srgbClr val="1A1A2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What This Means for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Formants change by only 6%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The 154 Hz real-vs-fake gap is much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larger than the 6% codec noise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→ Signal survives compression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Prosody changes by only 3%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Codecs preserve pitch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LFCC changes by 39% (worst: 120%!)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Codecs sacrifice spectral detail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→ Features become unreliable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 detector using LFCC features will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collapse when codecs are applied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(this is exactly what happened: 50% EER)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4 Winning Features: Real vs Fake</a:t>
            </a:r>
          </a:p>
        </p:txBody>
      </p:sp>
      <p:pic>
        <p:nvPicPr>
          <p:cNvPr id="3" name="Picture 2" descr="fig1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48640"/>
            <a:ext cx="11430000" cy="56692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914400" y="6309360"/>
            <a:ext cx="10058400" cy="457200"/>
          </a:xfrm>
          <a:prstGeom prst="roundRect">
            <a:avLst/>
          </a:prstGeom>
          <a:solidFill>
            <a:srgbClr val="0D47A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632764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Green = Real (wider, higher)  |  Red = Fake (narrower, lower)  |  Dashed = averages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Why Formants Detect Deepfakes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Real Speech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Your mouth and throat form a tube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This tube has resonances (formants)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The tube absorbs energy → wide resonances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bandwidth ≈ 515 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Lots of natural variation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  <a:latin typeface="Calibri"/>
              </a:defRPr>
            </a:pPr>
            <a:r>
              <a:t>Fake 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A neural network generates the sound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It optimizes for average spectral shape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No physical damping → sharp resonances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F1 bandwidth ≈ 361 Hz (154 Hz narrower)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Less variation (over-smoothed)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515600" cy="2743200"/>
          </a:xfrm>
          <a:prstGeom prst="roundRect">
            <a:avLst/>
          </a:prstGeom>
          <a:solidFill>
            <a:srgbClr val="0D2B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66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C7"/>
                </a:solidFill>
                <a:latin typeface="Calibri"/>
              </a:defRPr>
            </a:pPr>
            <a:r>
              <a:t>Why This Survives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Codecs MUST preserve formants — without them, you can't understand speech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Phone codecs (G.729) explicitly encode formant frequencies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Even MP3 and AAC preserve the resonance structure below 4 kHz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The 154 Hz gap between real and fake survives all 9 tested codecs</a:t>
            </a:r>
          </a:p>
          <a:p>
            <a:pPr>
              <a:spcAft>
                <a:spcPts val="3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Formant values change by only 6% under compression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Detection Results: 5 Simple Classifiers</a:t>
            </a:r>
          </a:p>
        </p:txBody>
      </p:sp>
      <p:pic>
        <p:nvPicPr>
          <p:cNvPr id="3" name="Picture 2" descr="fig5_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5943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731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C7"/>
                </a:solidFill>
                <a:latin typeface="Calibri"/>
              </a:defRPr>
            </a:pPr>
            <a:r>
              <a:t>Formants + Prosody (15 features)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188720"/>
          <a:ext cx="51206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Unseen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attacks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After</a:t>
                      </a:r>
                    </a:p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codecs</a:t>
                      </a:r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24.5%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21.5%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Neural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22.3%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22.9%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21.2%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Error rate = % of wrong predictions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Best in lab: 10.6% (Neural Net)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After codecs: 21-25% (degrades, doesn't collapse)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Compare: all-36 features → 50% after codecs!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Trained on official ASVspoof challenge splits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• Adjusted for 9:1 fake-to-real imbalance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Per-Codec Results &amp; Most Important Features</a:t>
            </a:r>
          </a:p>
        </p:txBody>
      </p:sp>
      <p:pic>
        <p:nvPicPr>
          <p:cNvPr id="3" name="Picture 2" descr="fig4_code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6217920" cy="3200400"/>
          </a:xfrm>
          <a:prstGeom prst="rect">
            <a:avLst/>
          </a:prstGeom>
        </p:spPr>
      </p:pic>
      <p:pic>
        <p:nvPicPr>
          <p:cNvPr id="4" name="Picture 3" descr="fig6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14800"/>
            <a:ext cx="62179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731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Every Codec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Formants: 19–24% error across ALL codecs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Stable — only 5% variation between codecs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All-36 features: 50% on EVERY codec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Green = good, Red = bad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1148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Which Features Matter Most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5720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 bandwidth: 26% of importance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(the single best deepfake indicator)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 mean: 15%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F1/F2 ratio: 12%</a:t>
            </a:r>
          </a:p>
          <a:p>
            <a:pPr>
              <a:spcAft>
                <a:spcPts val="3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• Green = Formant, Purple = Prosody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CC71"/>
                </a:solidFill>
                <a:latin typeface="Calibri"/>
              </a:defRPr>
            </a:pPr>
            <a:r>
              <a:t>What We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Out of 36 features, only 4 matter: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F1 bandwidth, F1 mean, F1 std, F1/F2 ratio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Real: 515 Hz  |  Fake: 361 Hz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(1.32 standard deviations apart)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Codecs change formants by only 6%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but change LFCC by 39%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Using only stable features: 21-23% error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Using all features: 50% error (broken)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Calibri"/>
              </a:defRPr>
            </a:pPr>
            <a:r>
              <a:t>Limitations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1. 21-23% error is not state-of-the-art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(best neural systems: 1.9%)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2. Advanced voice cloners can now make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realistic formants → need more features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3. These are interpretable baselines: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you can explain WHY it flagged a file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4. Next: combine with neural models for</a:t>
            </a:r>
          </a:p>
          <a:p>
            <a:pPr>
              <a:spcAft>
                <a:spcPts val="3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   accuracy AND explainability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515600" cy="91440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096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34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Calibri"/>
              </a:defRPr>
            </a:pPr>
            <a:r>
              <a:t>One-Sentence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 speech has wider formant resonances than synthetic speech because physical</a:t>
            </a:r>
            <a:br/>
            <a:r>
              <a:t>vocal tracts have damping that voice synthesizers don’t model —</a:t>
            </a:r>
            <a:br/>
            <a:r>
              <a:t>and this difference survives audio compression.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6C7"/>
                </a:solidFill>
                <a:latin typeface="Calibri"/>
              </a:defRPr>
            </a:pPr>
            <a:r>
              <a:t>github.com/Yash-Sukhdeve/stats-audio-deepfake-detection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Ablation: Adding PNCC or LFCC Causes Collapse</a:t>
            </a:r>
          </a:p>
        </p:txBody>
      </p:sp>
      <p:pic>
        <p:nvPicPr>
          <p:cNvPr id="3" name="Picture 2" descr="fig10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0"/>
            <a:ext cx="82296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86800" y="731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The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0" y="1188720"/>
            <a:ext cx="3200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LEFT SIDE (green bars):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Formants and Prosody alone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21-23% EER on codecs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Stable, no collapse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RIGHT SIDE (red bars):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Any set with PNCC or LFCC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42-50% EER on codecs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→ COLLAPSED to random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The lesson: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Adding fragile features doesn't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just fail to help — it actively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DESTROYS the detector.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PNCC+Formants (21D):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50% on 2021. Formants alone</a:t>
            </a:r>
          </a:p>
          <a:p>
            <a:pPr>
              <a:spcAft>
                <a:spcPts val="3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would have been 29%.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