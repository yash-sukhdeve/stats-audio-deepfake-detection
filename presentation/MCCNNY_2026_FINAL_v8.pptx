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[20 seconds]</a:t>
            </a:r>
          </a:p>
          <a:p>
            <a:r>
              <a:t>"Good morning. I'm [Name] from [Affiliation]. My talk is about using statistics to detect audio deepfakes — specifically, which acoustic features can identify fake audio even after it's been compressed by telephone codecs."</a:t>
            </a:r>
          </a:p>
          <a:p>
            <a:r>
              <a:t>[Click]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seconds]</a:t>
            </a:r>
          </a:p>
          <a:p>
            <a:r>
              <a:t>"Here's the problem. We train a detector on clean studio audio — 25,000 files from the ASVspoof challenge. In the lab, the best model achieves 7 percent error. Then we deploy it on codec-compressed audio. Error jumps to 50 percent — random chance. Useless."</a:t>
            </a:r>
          </a:p>
          <a:p/>
          <a:p>
            <a:r>
              <a:t>[Point to bar chart]</a:t>
            </a:r>
          </a:p>
          <a:p>
            <a:r>
              <a:t>"The red bars: all 36 features — 7 percent in the lab, 50 percent after codecs. Collapsed. The green bars: formant features — 17 percent in the lab, 23 percent after codecs. Not great, but they don't collapse."</a:t>
            </a:r>
          </a:p>
          <a:p/>
          <a:p>
            <a:r>
              <a:t>VERIFIED NUMBERS: All-36 MLP: dev=7.35%, 2021=50.68%. Top4 LogReg: dev=16.63%, 2021=23.97%.</a:t>
            </a:r>
          </a:p>
          <a:p>
            <a:r>
              <a:t>[Click]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seconds]</a:t>
            </a:r>
          </a:p>
          <a:p>
            <a:r>
              <a:t>"We extract 36 numbers from each audio file in four groups. PNCC — 13 numbers capturing spectral shape using an ear-like filterbank. LFCC — 8 numbers for fine spectral detail. Formants — 8 numbers measuring mouth-shape resonances. Prosody — 7 numbers for pitch, energy, and rhythm."</a:t>
            </a:r>
          </a:p>
          <a:p/>
          <a:p>
            <a:r>
              <a:t>"The question: which of these 36 survive compression AND detect fakes?"</a:t>
            </a:r>
          </a:p>
          <a:p>
            <a:r>
              <a:t>[Click]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seconds]</a:t>
            </a:r>
          </a:p>
          <a:p/>
          <a:p>
            <a:r>
              <a:t>"Before running statistical tests, we check what the data looks like. These histograms show 8 representative features — one from each group. Most are close to bell-shaped — 34 out of 36 are near-normal. That means standard statistical tests are valid."</a:t>
            </a:r>
          </a:p>
          <a:p/>
          <a:p>
            <a:r>
              <a:t>"Note: PNCC coefficient 0 is a constant (6.325 for every file) due to the DCT normalization. It carries zero information — AUC is exactly 0.5. We show PNCC_10 instead, which is the most discriminative PNCC feature at AUC 0.633."</a:t>
            </a:r>
          </a:p>
          <a:p>
            <a:r>
              <a:t>[Click]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seconds]</a:t>
            </a:r>
          </a:p>
          <a:p>
            <a:r>
              <a:t>"This chart ranks all 36 features by detection power — AUC, where 0.5 is a coin flip."</a:t>
            </a:r>
          </a:p>
          <a:p/>
          <a:p>
            <a:r>
              <a:t>[Point to top]</a:t>
            </a:r>
          </a:p>
          <a:p>
            <a:r>
              <a:t>"The top four are ALL green — formant features. F1 mean at 0.855, F1 bandwidth at 0.851."</a:t>
            </a:r>
          </a:p>
          <a:p/>
          <a:p>
            <a:r>
              <a:t>[Point to bottom]</a:t>
            </a:r>
          </a:p>
          <a:p>
            <a:r>
              <a:t>"The blue bars — PNCC — cluster around 0.5 to 0.63. Weak. The orange — LFCC — middling, but codecs destroy them."</a:t>
            </a:r>
          </a:p>
          <a:p/>
          <a:p>
            <a:r>
              <a:t>"Out of 36, only 4 have AUC above 0.8. All four measure the first formant."</a:t>
            </a:r>
          </a:p>
          <a:p>
            <a:r>
              <a:t>[Click]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seconds]</a:t>
            </a:r>
          </a:p>
          <a:p>
            <a:r>
              <a:t>"Second test: do they survive compression? We compressed 150 files through 9 codecs and measured how much each feature changed."</a:t>
            </a:r>
          </a:p>
          <a:p/>
          <a:p>
            <a:r>
              <a:t>[Point to table]</a:t>
            </a:r>
          </a:p>
          <a:p>
            <a:r>
              <a:t>"Prosody: 3 percent change. Formants: 6 percent. PNCC: 6 percent — but remember it can't detect fakes. LFCC: 39 percent average, worst case 120 percent — more than doubled."</a:t>
            </a:r>
          </a:p>
          <a:p/>
          <a:p>
            <a:r>
              <a:t>"This is why the all-36 model collapsed. It relied on LFCC features that codecs destroyed."</a:t>
            </a:r>
          </a:p>
          <a:p/>
          <a:p>
            <a:r>
              <a:t>VERIFIED: These percentages come from comprehensive_feature_analysis_v4_fixed/analysis_summary.json, computed as MAE / mean_feature_value × 100.</a:t>
            </a:r>
          </a:p>
          <a:p>
            <a:r>
              <a:t>[Click]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seconds]</a:t>
            </a:r>
          </a:p>
          <a:p>
            <a:r>
              <a:t>"Here's what the difference looks like. Four panels, four features. Green is real, red is fake."</a:t>
            </a:r>
          </a:p>
          <a:p/>
          <a:p>
            <a:r>
              <a:t>"F1 bandwidth — top right. Real averages 515 hertz, fake averages 361. A 154-hertz gap. You can see the separation by eye."</a:t>
            </a:r>
          </a:p>
          <a:p>
            <a:r>
              <a:t>[Click]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seconds]</a:t>
            </a:r>
          </a:p>
          <a:p>
            <a:r>
              <a:t>"Why do formants differ? Your mouth and throat form a tube with resonances. This tube absorbs energy — tissue damping, nasal coupling. That makes resonances wide. 515 hertz for F1."</a:t>
            </a:r>
          </a:p>
          <a:p/>
          <a:p>
            <a:r>
              <a:t>"A voice synthesizer models the spectral shape mathematically. It optimizes a reconstruction loss that pulls everything toward the average. No physical damping. Narrow resonances. 361 hertz."</a:t>
            </a:r>
          </a:p>
          <a:p/>
          <a:p>
            <a:r>
              <a:t>"Codecs preserve this because they MUST preserve formants for speech to be understandable. The 154-hertz gap — which is 1.32 standard deviations — survives all 9 tested codecs."</a:t>
            </a:r>
          </a:p>
          <a:p/>
          <a:p>
            <a:r>
              <a:t>NOTE: The 'vocoders narrow formants due to L1/L2 loss' is our hypothesis, not a cited fact. If asked, say: 'This is our proposed explanation based on the regression-to-mean property of reconstruction losses.'</a:t>
            </a:r>
          </a:p>
          <a:p>
            <a:r>
              <a:t>[Click]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seconds]</a:t>
            </a:r>
          </a:p>
          <a:p>
            <a:r>
              <a:t>"We trained five classifiers on 15 formant-plus-prosody features."</a:t>
            </a:r>
          </a:p>
          <a:p/>
          <a:p>
            <a:r>
              <a:t>[Point to ROC curves]</a:t>
            </a:r>
          </a:p>
          <a:p>
            <a:r>
              <a:t>"SVM achieves 11.4 percent error in the lab, 17.2 on unseen attacks, 21.5 after codecs."</a:t>
            </a:r>
          </a:p>
          <a:p/>
          <a:p>
            <a:r>
              <a:t>[Point to table]</a:t>
            </a:r>
          </a:p>
          <a:p>
            <a:r>
              <a:t>"All five models degrade from 11-17 percent to 21-25 percent. Graceful degradation, not collapse."</a:t>
            </a:r>
          </a:p>
          <a:p/>
          <a:p>
            <a:r>
              <a:t>"For comparison: all 36 features with MLP — 7.4 percent in the lab, 50.7 percent after codecs. Collapsed. Saved in all_classifier_results_VERIFIED.json."</a:t>
            </a:r>
          </a:p>
          <a:p/>
          <a:p>
            <a:r>
              <a:t>"These aren't state-of-the-art — best neural systems get 1.9 percent. But these are interpretable."</a:t>
            </a:r>
          </a:p>
          <a:p/>
          <a:p>
            <a:r>
              <a:t>VERIFIED: SVM dev=11.38%, eval=17.21%, 2021=21.49%. All from ml_classifier_results.json.</a:t>
            </a:r>
          </a:p>
          <a:p>
            <a:r>
              <a:t>[Click]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seconds]</a:t>
            </a:r>
          </a:p>
          <a:p>
            <a:r>
              <a:t>"Top: error rate per codec. Formant row is green — 19 to 24 percent everywhere. All-36 row is red — 50 percent on every codec."</a:t>
            </a:r>
          </a:p>
          <a:p/>
          <a:p>
            <a:r>
              <a:t>"Bottom: feature importance. F1 bandwidth is 26 percent of the Random Forest's decisions."</a:t>
            </a:r>
          </a:p>
          <a:p>
            <a:r>
              <a:t>[Click]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seconds]</a:t>
            </a:r>
          </a:p>
          <a:p>
            <a:r>
              <a:t>"Out of 36 features, only 4 reliably detect deepfakes after compression. All four measure the first formant."</a:t>
            </a:r>
          </a:p>
          <a:p/>
          <a:p>
            <a:r>
              <a:t>"Real speech: 515 hertz bandwidth. Fake: 361 hertz. A large, consistent gap that survives all codecs because codecs must preserve formants for intelligibility."</a:t>
            </a:r>
          </a:p>
          <a:p/>
          <a:p>
            <a:r>
              <a:t>"Detectors using only stable features degrade gracefully — 17 to 23 percent. Detectors using all features collapse to 50 percent. Feature selection based on codec robustness prevents this."</a:t>
            </a:r>
          </a:p>
          <a:p/>
          <a:p>
            <a:r>
              <a:t>"Three attacks — A17, A18, A19 — defeat formant features entirely with error rates above 48 percent. These use advanced waveform-level voice conversion. Formant features are a reliable floor, not a ceiling."</a:t>
            </a:r>
          </a:p>
          <a:p/>
          <a:p>
            <a:r>
              <a:t>VERIFIED: A17=52.56%, A18=48.24%, A19=48.13% from per_attack_results_VERIFIED.json.</a:t>
            </a:r>
          </a:p>
          <a:p/>
          <a:p>
            <a:r>
              <a:t>[Pause]</a:t>
            </a:r>
          </a:p>
          <a:p>
            <a:r>
              <a:t>"Thank you. I'm happy to take questions."</a:t>
            </a:r>
          </a:p>
          <a:p/>
          <a:p>
            <a:r>
              <a:t>TOTAL: ~6:15 speaking + ~1:45 transitions = 8:00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seconds]</a:t>
            </a:r>
          </a:p>
          <a:p/>
          <a:p>
            <a:r>
              <a:t>"This is the ablation study. Each cluster shows a different feature combination tested on three conditions."</a:t>
            </a:r>
          </a:p>
          <a:p/>
          <a:p>
            <a:r>
              <a:t>[Point to left side]</a:t>
            </a:r>
          </a:p>
          <a:p>
            <a:r>
              <a:t>"Left side — green: Prosody alone, Top 4 Formants, Formants plus Prosody. All stay between 21 and 23 percent on compressed audio. Stable."</a:t>
            </a:r>
          </a:p>
          <a:p/>
          <a:p>
            <a:r>
              <a:t>[Point to right side]</a:t>
            </a:r>
          </a:p>
          <a:p>
            <a:r>
              <a:t>"Right side — red: anything with PNCC or LFCC. PNCC alone: 50 percent. LFCC alone: 42 percent. And here's the critical finding: PNCC plus Formants — 50 percent. Adding PNCC to formants didn't just fail to help, it DESTROYED the detector. Formants alone would have been 29 percent."</a:t>
            </a:r>
          </a:p>
          <a:p/>
          <a:p>
            <a:r>
              <a:t>"The all-36 model at the far right: 10 percent in the lab, 50 percent after codecs. The best lab result is the worst deployed result."</a:t>
            </a:r>
          </a:p>
          <a:p/>
          <a:p>
            <a:r>
              <a:t>VERIFIED: All numbers from ablation_all_groups_VERIFIED.json</a:t>
            </a:r>
          </a:p>
          <a:p>
            <a:r>
              <a:t>[Click]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Statistics for Audio Deepfake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96C7"/>
                </a:solidFill>
                <a:latin typeface="Calibri"/>
              </a:defRPr>
            </a:pPr>
            <a:r>
              <a:t>Which Acoustic Features Identify Deepfakes</a:t>
            </a:r>
            <a:br/>
            <a:r>
              <a:t>Regardless of Codec Compression?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  <a:latin typeface="Calibri"/>
              </a:defRPr>
            </a:pPr>
            <a:r>
              <a:t>[Your Name]  •  [Affiliation]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  <a:latin typeface="Calibri"/>
              </a:defRPr>
            </a:pPr>
            <a:r>
              <a:t>MCCNNY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We want to detect fake audio (deepfakes).</a:t>
            </a:r>
          </a:p>
          <a:p>
            <a:pPr>
              <a:spcAft>
                <a:spcPts val="300"/>
              </a:spcAft>
              <a:defRPr sz="15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• Train a detector on clean studio recordings</a:t>
            </a:r>
          </a:p>
          <a:p>
            <a:pPr>
              <a:spcAft>
                <a:spcPts val="3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• Deploy it on phone calls, VoIP, social media</a:t>
            </a:r>
          </a:p>
          <a:p>
            <a:pPr>
              <a:spcAft>
                <a:spcPts val="3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• Phone networks compress audio (codecs)</a:t>
            </a:r>
          </a:p>
          <a:p>
            <a:pPr>
              <a:spcAft>
                <a:spcPts val="3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• Compression distorts the features</a:t>
            </a:r>
          </a:p>
          <a:p>
            <a:pPr>
              <a:spcAft>
                <a:spcPts val="3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• Detector stops working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9144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The numbers:</a:t>
            </a:r>
          </a:p>
          <a:p>
            <a:pPr>
              <a:spcAft>
                <a:spcPts val="300"/>
              </a:spcAft>
              <a:defRPr sz="15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• In the lab: 7% error rate (good)</a:t>
            </a:r>
          </a:p>
          <a:p>
            <a:pPr>
              <a:spcAft>
                <a:spcPts val="3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• After compression: 50% error rate</a:t>
            </a:r>
          </a:p>
          <a:p>
            <a:pPr>
              <a:spcAft>
                <a:spcPts val="3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  (same as a coin flip — useless)</a:t>
            </a:r>
          </a:p>
          <a:p>
            <a:pPr>
              <a:spcAft>
                <a:spcPts val="300"/>
              </a:spcAft>
              <a:defRPr sz="15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500">
                <a:solidFill>
                  <a:srgbClr val="FFFFFF"/>
                </a:solidFill>
                <a:latin typeface="Calibri"/>
              </a:defRPr>
            </a:pPr>
            <a:r>
              <a:t>• Question: which features survive?</a:t>
            </a:r>
          </a:p>
        </p:txBody>
      </p:sp>
      <p:pic>
        <p:nvPicPr>
          <p:cNvPr id="5" name="Picture 4" descr="fig3_eer_degra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474720"/>
            <a:ext cx="914400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Why These 36 Features?</a:t>
            </a:r>
          </a:p>
        </p:txBody>
      </p:sp>
      <p:pic>
        <p:nvPicPr>
          <p:cNvPr id="3" name="Picture 2" descr="fig9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40080"/>
            <a:ext cx="11430000" cy="2926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374903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4 groups, each captures something different about the audio: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4206240"/>
            <a:ext cx="2743200" cy="2103120"/>
          </a:xfrm>
          <a:prstGeom prst="roundRect">
            <a:avLst/>
          </a:prstGeom>
          <a:solidFill>
            <a:srgbClr val="1A3A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4297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498DB"/>
                </a:solidFill>
                <a:latin typeface="Calibri"/>
              </a:defRPr>
            </a:pPr>
            <a:r>
              <a:t>PNCC (13 dims)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6177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Spectral shape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Models how the ear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hears sound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(gammatone filterbank)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4206240"/>
            <a:ext cx="2743200" cy="2103120"/>
          </a:xfrm>
          <a:prstGeom prst="roundRect">
            <a:avLst/>
          </a:prstGeom>
          <a:solidFill>
            <a:srgbClr val="3A2A1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4297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67E22"/>
                </a:solidFill>
                <a:latin typeface="Calibri"/>
              </a:defRPr>
            </a:pPr>
            <a:r>
              <a:t>LFCC (8 dims)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46177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Spectral detail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Equal resolution at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all frequencies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(catches high-freq artifacts)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4206240"/>
            <a:ext cx="2743200" cy="2103120"/>
          </a:xfrm>
          <a:prstGeom prst="roundRect">
            <a:avLst/>
          </a:prstGeom>
          <a:solidFill>
            <a:srgbClr val="1A3A1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297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Formants (8 dims)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6177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Vocal tract resonances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F1 = jaw opening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F2 = tongue position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(shape of the mouth)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4206240"/>
            <a:ext cx="2560320" cy="2103120"/>
          </a:xfrm>
          <a:prstGeom prst="roundRect">
            <a:avLst/>
          </a:prstGeom>
          <a:solidFill>
            <a:srgbClr val="2A1A3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42976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Calibri"/>
              </a:defRPr>
            </a:pPr>
            <a:r>
              <a:t>Prosody (7 dims)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46177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Rhythm &amp; melody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Pitch (F0), energy,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speaking rate,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duration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 Does Our Data Look Like?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7315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39C12"/>
                </a:solidFill>
                <a:latin typeface="Calibri"/>
              </a:defRPr>
            </a:pPr>
            <a:r>
              <a:t>Distribution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18872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Before choosing statistical tests,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we check if data is bell-shaped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(normally distributed).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Skewness: is it lopsided?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  • |skew| &lt; 1 = okay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Kurtosis: heavy tails?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  • |kurt| &lt; 3 = okay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Result: 34 of 36 features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are near-normal.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This means we CAN use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standard statistical tests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(t-test, correlation, etc.)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For the 2 non-normal features,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we use rank-based tests.</a:t>
            </a:r>
          </a:p>
        </p:txBody>
      </p:sp>
      <p:pic>
        <p:nvPicPr>
          <p:cNvPr id="6" name="Picture 5" descr="fig7_distribution_shap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640080"/>
            <a:ext cx="77724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Which Features Actually Detect Fakes?</a:t>
            </a:r>
          </a:p>
        </p:txBody>
      </p:sp>
      <p:pic>
        <p:nvPicPr>
          <p:cNvPr id="3" name="Picture 2" descr="fig8_all36_auc_ran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640080"/>
            <a:ext cx="7315200" cy="5669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46720" y="7315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39C12"/>
                </a:solidFill>
                <a:latin typeface="Calibri"/>
              </a:defRPr>
            </a:pPr>
            <a:r>
              <a:t>Reading This Chart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188720"/>
            <a:ext cx="38404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Each bar = one feature's ability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to detect fakes (AUC score)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AUC = 0.5 → coin flip (useless)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AUC = 0.7 → okay (red dashed line)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AUC = 0.85 → good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Color = feature group: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  • Green = Formants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  • Purple = Prosody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  • Blue = PNCC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  • Orange = LFCC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Only 4 features cross the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0.7 threshold — ALL are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formant features (green).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PNCC (blue) clusters near 0.5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→ can't detect fakes at all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C3E50"/>
                </a:solidFill>
                <a:latin typeface="Calibri"/>
              </a:defRPr>
            </a:pPr>
            <a:r>
              <a:t>How Much Do Codecs Change Each Feature?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C3E50"/>
                </a:solidFill>
                <a:latin typeface="Calibri"/>
              </a:defRPr>
            </a:pPr>
            <a:r>
              <a:t>Same file compressed through 9 codecs — how much does the feature value change?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91440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97280"/>
                <a:gridCol w="1188720"/>
                <a:gridCol w="1371600"/>
                <a:gridCol w="1371600"/>
                <a:gridCol w="1828800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 Group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 Features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Avg Change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Worst Change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Worst Codec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Prosody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3%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8%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G.711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VERY STABLE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Formants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6%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18%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G.711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1B5E20"/>
                          </a:solidFill>
                          <a:latin typeface="Calibri"/>
                        </a:defRPr>
                      </a:pPr>
                      <a:r>
                        <a:t>STABLE</a:t>
                      </a:r>
                    </a:p>
                  </a:txBody>
                  <a:tcPr>
                    <a:solidFill>
                      <a:srgbClr val="E8F5E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PNCC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G.711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2C3E50"/>
                          </a:solidFill>
                          <a:latin typeface="Calibri"/>
                        </a:defRPr>
                      </a:pPr>
                      <a:r>
                        <a:t>MODERATE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LFCC</a:t>
                      </a:r>
                    </a:p>
                  </a:txBody>
                  <a:tcPr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39%</a:t>
                      </a:r>
                    </a:p>
                  </a:txBody>
                  <a:tcPr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120%</a:t>
                      </a:r>
                    </a:p>
                  </a:txBody>
                  <a:tcPr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G.711</a:t>
                      </a:r>
                    </a:p>
                  </a:txBody>
                  <a:tcPr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E74C3C"/>
                          </a:solidFill>
                          <a:latin typeface="Calibri"/>
                        </a:defRPr>
                      </a:pPr>
                      <a:r>
                        <a:t>FRAGILE</a:t>
                      </a:r>
                    </a:p>
                  </a:txBody>
                  <a:tcPr>
                    <a:solidFill>
                      <a:srgbClr val="FFEBEE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566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Calibri"/>
              </a:defRPr>
            </a:pPr>
            <a:r>
              <a:t>Method: 150 files × 9 codecs. Compressed each file, re-extracted features, measured % change.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931920"/>
            <a:ext cx="10972800" cy="2560320"/>
          </a:xfrm>
          <a:prstGeom prst="roundRect">
            <a:avLst/>
          </a:prstGeom>
          <a:solidFill>
            <a:srgbClr val="1A1A2E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023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39C12"/>
                </a:solidFill>
                <a:latin typeface="Calibri"/>
              </a:defRPr>
            </a:pPr>
            <a:r>
              <a:t>What This Means for 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• Formants change by only 6%</a:t>
            </a:r>
          </a:p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  The 154 Hz real-vs-fake gap is much</a:t>
            </a:r>
          </a:p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  larger than the 6% codec noise</a:t>
            </a:r>
          </a:p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  → Signal survives compression</a:t>
            </a:r>
          </a:p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• Prosody changes by only 3%</a:t>
            </a:r>
          </a:p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  Codecs preserve pitch by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4805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• LFCC changes by 39% (worst: 120%!)</a:t>
            </a:r>
          </a:p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  Codecs sacrifice spectral detail</a:t>
            </a:r>
          </a:p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  → Features become unreliable</a:t>
            </a:r>
          </a:p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• A detector using LFCC features will</a:t>
            </a:r>
          </a:p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  collapse when codecs are applied</a:t>
            </a:r>
          </a:p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  (this is exactly what happened: 50% EER)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The 4 Winning Features: Real vs Fake</a:t>
            </a:r>
          </a:p>
        </p:txBody>
      </p:sp>
      <p:pic>
        <p:nvPicPr>
          <p:cNvPr id="3" name="Picture 2" descr="fig1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48640"/>
            <a:ext cx="11430000" cy="566928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914400" y="6309360"/>
            <a:ext cx="10058400" cy="457200"/>
          </a:xfrm>
          <a:prstGeom prst="roundRect">
            <a:avLst/>
          </a:prstGeom>
          <a:solidFill>
            <a:srgbClr val="0D47A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6327648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Calibri"/>
              </a:defRPr>
            </a:pPr>
            <a:r>
              <a:t>Green = Real (wider, higher)  |  Red = Fake (narrower, lower)  |  Dashed = averages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Why Formants Detect Deepfakes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CC71"/>
                </a:solidFill>
                <a:latin typeface="Calibri"/>
              </a:defRPr>
            </a:pPr>
            <a:r>
              <a:t>Real Speech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Your mouth and throat form a tube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This tube has resonances (formants)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The tube absorbs energy → wide resonances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F1 bandwidth ≈ 515 Hz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Lots of natural variation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914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74C3C"/>
                </a:solidFill>
                <a:latin typeface="Calibri"/>
              </a:defRPr>
            </a:pPr>
            <a:r>
              <a:t>Fake Speech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A neural network generates the sound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It optimizes for average spectral shape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No physical damping → sharp resonances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F1 bandwidth ≈ 361 Hz (154 Hz narrower)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Less variation (over-smoothed)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474720"/>
            <a:ext cx="10515600" cy="2743200"/>
          </a:xfrm>
          <a:prstGeom prst="roundRect">
            <a:avLst/>
          </a:prstGeom>
          <a:solidFill>
            <a:srgbClr val="0D2B45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566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96C7"/>
                </a:solidFill>
                <a:latin typeface="Calibri"/>
              </a:defRPr>
            </a:pPr>
            <a:r>
              <a:t>Why This Survives Compression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02336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Codecs MUST preserve formants — without them, you can't understand speech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Phone codecs (G.729) explicitly encode formant frequencies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Even MP3 and AAC preserve the resonance structure below 4 kHz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The 154 Hz gap between real and fake survives all 9 tested codecs</a:t>
            </a:r>
          </a:p>
          <a:p>
            <a:pPr>
              <a:spcAft>
                <a:spcPts val="3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Formant values change by only 6% under compression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Detection Results: 5 Simple Classifiers</a:t>
            </a:r>
          </a:p>
        </p:txBody>
      </p:sp>
      <p:pic>
        <p:nvPicPr>
          <p:cNvPr id="3" name="Picture 2" descr="fig5_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31520"/>
            <a:ext cx="59436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583680" y="7315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C7"/>
                </a:solidFill>
                <a:latin typeface="Calibri"/>
              </a:defRPr>
            </a:pPr>
            <a:r>
              <a:t>Formants + Prosody (15 features)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188720"/>
          <a:ext cx="51206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1097280"/>
                <a:gridCol w="1097280"/>
              </a:tblGrid>
              <a:tr h="4267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Lab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Unseen</a:t>
                      </a:r>
                    </a:p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attacks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After</a:t>
                      </a:r>
                    </a:p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codecs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Logistic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24.5%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SVM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21.5%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Neural 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22.3%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Decision Tree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22.9%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21.2%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3192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Error rate = % of wrong predictions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Best in lab: 10.6% (Neural Net)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After codecs: 21-25% (degrades, doesn't collapse)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Compare: all-36 features → 50% after codecs!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Trained on official ASVspoof challenge splits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• Adjusted for 9:1 fake-to-real imbalance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Per-Codec Results &amp; Most Important Features</a:t>
            </a:r>
          </a:p>
        </p:txBody>
      </p:sp>
      <p:pic>
        <p:nvPicPr>
          <p:cNvPr id="3" name="Picture 2" descr="fig4_codec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31520"/>
            <a:ext cx="6217920" cy="3200400"/>
          </a:xfrm>
          <a:prstGeom prst="rect">
            <a:avLst/>
          </a:prstGeom>
        </p:spPr>
      </p:pic>
      <p:pic>
        <p:nvPicPr>
          <p:cNvPr id="4" name="Picture 3" descr="fig6_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114800"/>
            <a:ext cx="6217920" cy="2560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7315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Every Codec Tested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18872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• Formants: 19–24% error across ALL codecs</a:t>
            </a:r>
          </a:p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• Stable — only 5% variation between codecs</a:t>
            </a:r>
          </a:p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• All-36 features: 50% on EVERY codec</a:t>
            </a:r>
          </a:p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• Green = good, Red = bad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39C12"/>
                </a:solidFill>
                <a:latin typeface="Calibri"/>
              </a:defRPr>
            </a:pPr>
            <a:r>
              <a:t>Which Features Matter Most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457200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• F1 bandwidth: 26% of importance</a:t>
            </a:r>
          </a:p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  (the single best deepfake indicator)</a:t>
            </a:r>
          </a:p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• F1 mean: 15%</a:t>
            </a:r>
          </a:p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• F1/F2 ratio: 12%</a:t>
            </a:r>
          </a:p>
          <a:p>
            <a:pPr>
              <a:spcAft>
                <a:spcPts val="300"/>
              </a:spcAft>
              <a:defRPr sz="1300">
                <a:solidFill>
                  <a:srgbClr val="CCCCCC"/>
                </a:solidFill>
                <a:latin typeface="Calibri"/>
              </a:defRPr>
            </a:pPr>
            <a:r>
              <a:t>• Green = Formant, Purple = Prosody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CC71"/>
                </a:solidFill>
                <a:latin typeface="Calibri"/>
              </a:defRPr>
            </a:pPr>
            <a:r>
              <a:t>What We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1. Out of 36 features, only 4 matter:</a:t>
            </a: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 F1 bandwidth, F1 mean, F1 std, F1/F2 ratio</a:t>
            </a: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2. Real: 515 Hz  |  Fake: 361 Hz</a:t>
            </a: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 (1.32 standard deviations apart)</a:t>
            </a: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3. Codecs change formants by only 6%</a:t>
            </a: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 but change LFCC by 39%</a:t>
            </a: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4. Using only stable features: 21-23% error</a:t>
            </a: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 Using all features: 50% error (broken)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822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39C12"/>
                </a:solidFill>
                <a:latin typeface="Calibri"/>
              </a:defRPr>
            </a:pPr>
            <a:r>
              <a:t>Limitations &amp; 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1. 21-23% error is not state-of-the-art</a:t>
            </a: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 (best neural systems: 1.9%)</a:t>
            </a: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2. Advanced voice cloners can now make</a:t>
            </a: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 realistic formants → need more features</a:t>
            </a: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3. These are interpretable baselines:</a:t>
            </a: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 you can explain WHY it flagged a file</a:t>
            </a: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4. Next: combine with neural models for</a:t>
            </a:r>
          </a:p>
          <a:p>
            <a:pPr>
              <a:spcAft>
                <a:spcPts val="3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   accuracy AND explainability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89120"/>
            <a:ext cx="10515600" cy="914400"/>
          </a:xfrm>
          <a:prstGeom prst="roundRect">
            <a:avLst/>
          </a:prstGeom>
          <a:solidFill>
            <a:srgbClr val="0D47A1"/>
          </a:solidFill>
          <a:ln w="25400">
            <a:solidFill>
              <a:srgbClr val="0096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4348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One-Sentence 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709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Real speech has wider formant resonances than synthetic speech because physical</a:t>
            </a:r>
            <a:br/>
            <a:r>
              <a:t>vocal tracts have damping that voice synthesizers don’t model —</a:t>
            </a:r>
            <a:br/>
            <a:r>
              <a:t>and this difference survives audio compression.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6692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0096C7"/>
                </a:solidFill>
                <a:latin typeface="Calibri"/>
              </a:defRPr>
            </a:pPr>
            <a:r>
              <a:t>github.com/Yash-Sukhdeve/stats-audio-deepfake-detection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Ablation: Adding PNCC or LFCC Causes Collapse</a:t>
            </a:r>
          </a:p>
        </p:txBody>
      </p:sp>
      <p:pic>
        <p:nvPicPr>
          <p:cNvPr id="3" name="Picture 2" descr="fig10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731520"/>
            <a:ext cx="82296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0" y="731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39C12"/>
                </a:solidFill>
                <a:latin typeface="Calibri"/>
              </a:defRPr>
            </a:pPr>
            <a:r>
              <a:t>The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1188720"/>
            <a:ext cx="3200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LEFT SIDE (green bars):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Formants and Prosody alone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→ 21-23% EER on codecs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→ Stable, no collapse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RIGHT SIDE (red bars):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Any set with PNCC or LFCC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→ 42-50% EER on codecs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→ COLLAPSED to random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The lesson: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Adding fragile features doesn't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just fail to help — it actively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DESTROYS the detector.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PNCC+Formants (21D):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50% on 2021. Formants alone</a:t>
            </a:r>
          </a:p>
          <a:p>
            <a:pPr>
              <a:spcAft>
                <a:spcPts val="300"/>
              </a:spcAft>
              <a:defRPr sz="1100">
                <a:solidFill>
                  <a:srgbClr val="CCCCCC"/>
                </a:solidFill>
                <a:latin typeface="Calibri"/>
              </a:defRPr>
            </a:pPr>
            <a:r>
              <a:t>would have been 29%.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