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seconds]</a:t>
            </a:r>
          </a:p>
          <a:p/>
          <a:p>
            <a:r>
              <a:t>"Good morning. I'm [Name] from [Affiliation]. My talk is about using statistics to detect audio deepfakes — specifically, which acoustic features can identify fake audio even after it's been compressed by telephone codecs."</a:t>
            </a:r>
          </a:p>
          <a:p/>
          <a:p>
            <a:r>
              <a:t>[Click]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a:t>
            </a:r>
          </a:p>
          <a:p/>
          <a:p>
            <a:r>
              <a:t>"Here's the setup. We train a detector on clean studio audio — 25,000 files from the ASVspoof challenge. In the lab, it works: 7 percent error. Then we deploy it on phone calls. The audio gets compressed by codecs. And the error rate jumps to 50 percent — a coin flip. The detector is useless."</a:t>
            </a:r>
          </a:p>
          <a:p/>
          <a:p>
            <a:r>
              <a:t>[Point to bar chart]</a:t>
            </a:r>
          </a:p>
          <a:p/>
          <a:p>
            <a:r>
              <a:t>"Look at the red bars. All-36 features: 7 percent in the lab, 50 percent after codecs. It collapsed. The green bars — formant features — degrade from 17 to 23 percent. Not great, but they don't collapse. Why? That's what this talk answers."</a:t>
            </a:r>
          </a:p>
          <a:p/>
          <a:p>
            <a:r>
              <a:t>[Click]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seconds]</a:t>
            </a:r>
          </a:p>
          <a:p/>
          <a:p>
            <a:r>
              <a:t>"We extract 36 numbers from each audio file, organized into four groups. PNCC — 13 numbers that capture the overall spectral shape using a filterbank modeled on the human ear. LFCC — 8 numbers capturing fine spectral detail with equal resolution at all frequencies. Formants — 8 numbers measuring vocal tract resonances, basically the shape of your mouth when you speak. And Prosody — 7 numbers for pitch, energy, and rhythm."</a:t>
            </a:r>
          </a:p>
          <a:p/>
          <a:p>
            <a:r>
              <a:t>"Each group captures something different. The question is: which of these 36 numbers can actually tell real from fake, and which survive compression?"</a:t>
            </a:r>
          </a:p>
          <a:p/>
          <a:p>
            <a:r>
              <a:t>[Click]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a:t>
            </a:r>
          </a:p>
          <a:p/>
          <a:p>
            <a:r>
              <a:t>"Before running statistical tests, we check what the data looks like. These histograms show 8 representative features. Most are close to bell-shaped — 34 out of 36 are near-normal. That means we can use standard statistical tests. The two that aren't, we use rank-based tests instead."</a:t>
            </a:r>
          </a:p>
          <a:p/>
          <a:p>
            <a:r>
              <a:t>"This is a sanity check, not a finding. But it's important — if your data is wildly skewed, your test results can't be trusted."</a:t>
            </a:r>
          </a:p>
          <a:p/>
          <a:p>
            <a:r>
              <a:t>[Click]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a:t>
            </a:r>
          </a:p>
          <a:p/>
          <a:p>
            <a:r>
              <a:t>"Now the key question: which of these 36 features actually detect fakes? This chart ranks all 36 by detection accuracy — AUC, where 0.5 is a coin flip and 1.0 is perfect."</a:t>
            </a:r>
          </a:p>
          <a:p/>
          <a:p>
            <a:r>
              <a:t>[Point to top of chart]</a:t>
            </a:r>
          </a:p>
          <a:p/>
          <a:p>
            <a:r>
              <a:t>"The top four are ALL green — formant features. F1 mean at 0.855, F1 bandwidth at 0.851. Nothing else comes close."</a:t>
            </a:r>
          </a:p>
          <a:p/>
          <a:p>
            <a:r>
              <a:t>[Point to bottom]</a:t>
            </a:r>
          </a:p>
          <a:p/>
          <a:p>
            <a:r>
              <a:t>"Look at the blue bars — those are PNCC features. They cluster around 0.5. They cannot tell real from fake at all. And the orange bars — LFCC — they're in the middle but as we'll see, codecs destroy them."</a:t>
            </a:r>
          </a:p>
          <a:p/>
          <a:p>
            <a:r>
              <a:t>"Out of 36 features, only 4 matter. All four measure the first formant."</a:t>
            </a:r>
          </a:p>
          <a:p/>
          <a:p>
            <a:r>
              <a:t>[Click]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seconds]</a:t>
            </a:r>
          </a:p>
          <a:p/>
          <a:p>
            <a:r>
              <a:t>"Now the second test: do they survive compression? We took 150 audio files, compressed each through 9 different codecs — G.711, MP3, AAC — and measured how much each feature changed."</a:t>
            </a:r>
          </a:p>
          <a:p/>
          <a:p>
            <a:r>
              <a:t>[Point to table]</a:t>
            </a:r>
          </a:p>
          <a:p/>
          <a:p>
            <a:r>
              <a:t>"Prosody: 3 percent change. Very stable. Formants: 6 percent. Stable. PNCC: 6 percent but remember, it can't detect fakes anyway. LFCC: 39 percent average, worst case 120 percent. That means the codec can MORE THAN DOUBLE the feature value. Completely unreliable."</a:t>
            </a:r>
          </a:p>
          <a:p/>
          <a:p>
            <a:r>
              <a:t>"This is why the all-36 model collapsed — it relied on LFCC features that got destroyed."</a:t>
            </a:r>
          </a:p>
          <a:p/>
          <a:p>
            <a:r>
              <a:t>[Click]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a:t>
            </a:r>
          </a:p>
          <a:p/>
          <a:p>
            <a:r>
              <a:t>"Here's what the difference looks like visually. Four panels, four features. Green is real speech, red is fake. Dashed lines are the averages."</a:t>
            </a:r>
          </a:p>
          <a:p/>
          <a:p>
            <a:r>
              <a:t>"Look at F1 bandwidth — top right. Clear separation. Real speech averages 515 hertz, fake averages 361. You can practically draw a line between them by eye."</a:t>
            </a:r>
          </a:p>
          <a:p/>
          <a:p>
            <a:r>
              <a:t>"This 154-hertz gap is the core finding of this work."</a:t>
            </a:r>
          </a:p>
          <a:p/>
          <a:p>
            <a:r>
              <a:t>[Click]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seconds]</a:t>
            </a:r>
          </a:p>
          <a:p/>
          <a:p>
            <a:r>
              <a:t>"Why do formants differ? Physics."</a:t>
            </a:r>
          </a:p>
          <a:p/>
          <a:p>
            <a:r>
              <a:t>"Real speech comes from a physical tube — your mouth and throat. This tube has resonances, but it also has damping. Tissue absorbs energy. Air escapes through your nose. This damping makes the resonances wide. F1 bandwidth around 515 hertz."</a:t>
            </a:r>
          </a:p>
          <a:p/>
          <a:p>
            <a:r>
              <a:t>"Fake speech comes from a neural network that optimizes a reconstruction loss. This produces spectrally sharp peaks — unnaturally narrow resonances. F1 bandwidth around 361 hertz."</a:t>
            </a:r>
          </a:p>
          <a:p/>
          <a:p>
            <a:r>
              <a:t>"And codecs preserve this difference because they MUST preserve formants for speech to be intelligible. That's why our 6 percent codec change is so small — codecs are designed to keep formants intact."</a:t>
            </a:r>
          </a:p>
          <a:p/>
          <a:p>
            <a:r>
              <a:t>[Click]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seconds]</a:t>
            </a:r>
          </a:p>
          <a:p/>
          <a:p>
            <a:r>
              <a:t>"Can classifiers use these features? Yes. We trained five simple models on the 15 formant-plus-prosody features."</a:t>
            </a:r>
          </a:p>
          <a:p/>
          <a:p>
            <a:r>
              <a:t>[Point to ROC curves]</a:t>
            </a:r>
          </a:p>
          <a:p/>
          <a:p>
            <a:r>
              <a:t>"The curves show true positive rate versus false positive rate. Higher and more to the left is better."</a:t>
            </a:r>
          </a:p>
          <a:p/>
          <a:p>
            <a:r>
              <a:t>[Point to table]</a:t>
            </a:r>
          </a:p>
          <a:p/>
          <a:p>
            <a:r>
              <a:t>"SVM achieves 11 percent error in the lab, 17 percent on unseen attacks, 21 percent after codecs. The neural net is similar. Importantly — none of them collapse. They degrade gracefully from 11 to 22 percent, not from 7 to 50."</a:t>
            </a:r>
          </a:p>
          <a:p/>
          <a:p>
            <a:r>
              <a:t>"These aren't state-of-the-art — the best neural systems achieve 2 percent. But these are interpretable. You can explain exactly why a file was flagged."</a:t>
            </a:r>
          </a:p>
          <a:p/>
          <a:p>
            <a:r>
              <a:t>[Click]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a:t>
            </a:r>
          </a:p>
          <a:p/>
          <a:p>
            <a:r>
              <a:t>"Top chart: error rate for each model on each codec. The formant row is green across the board — 19 to 24 percent on every codec. The all-36 row is red — 50 percent everywhere."</a:t>
            </a:r>
          </a:p>
          <a:p/>
          <a:p>
            <a:r>
              <a:t>"Bottom chart: which features matter most in the Random Forest model. F1 bandwidth is 26 percent of the model's decisions — the single most important feature. F1 mean is second at 15 percent."</a:t>
            </a:r>
          </a:p>
          <a:p/>
          <a:p>
            <a:r>
              <a:t>[Click]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seconds]</a:t>
            </a:r>
          </a:p>
          <a:p/>
          <a:p>
            <a:r>
              <a:t>"To conclude. Out of 36 acoustic features, only 4 reliably detect deepfakes after codec compression. All four measure the first formant — the first resonance of the vocal tract."</a:t>
            </a:r>
          </a:p>
          <a:p/>
          <a:p>
            <a:r>
              <a:t>"Real speech has wide resonances — 515 hertz — because physical vocal tracts have damping. Fake speech has narrow resonances — 361 hertz — because neural vocoders don't model that damping."</a:t>
            </a:r>
          </a:p>
          <a:p/>
          <a:p>
            <a:r>
              <a:t>"Codecs change formants by only 6 percent, so this gap survives compression. That's why formant-based detectors degrade gracefully while detectors using all features collapse to chance."</a:t>
            </a:r>
          </a:p>
          <a:p/>
          <a:p>
            <a:r>
              <a:t>[Pause]</a:t>
            </a:r>
          </a:p>
          <a:p/>
          <a:p>
            <a:r>
              <a:t>"The code and data are on GitHub. Thank you. I'm happy to take questions."</a:t>
            </a:r>
          </a:p>
          <a:p/>
          <a:p>
            <a:r>
              <a:t>TOTAL TIME: ~6 minutes 15 seconds of speaking + transitions = ~8 minutes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1371600"/>
            <a:ext cx="10058400" cy="1097280"/>
          </a:xfrm>
          <a:prstGeom prst="rect">
            <a:avLst/>
          </a:prstGeom>
          <a:noFill/>
        </p:spPr>
        <p:txBody>
          <a:bodyPr wrap="square">
            <a:spAutoFit/>
          </a:bodyPr>
          <a:lstStyle/>
          <a:p>
            <a:pPr algn="ctr">
              <a:defRPr sz="4200" b="1">
                <a:solidFill>
                  <a:srgbClr val="FFFFFF"/>
                </a:solidFill>
                <a:latin typeface="Calibri"/>
              </a:defRPr>
            </a:pPr>
            <a:r>
              <a:t>Statistics for Audio Deepfake Detection</a:t>
            </a:r>
          </a:p>
        </p:txBody>
      </p:sp>
      <p:sp>
        <p:nvSpPr>
          <p:cNvPr id="3" name="TextBox 2"/>
          <p:cNvSpPr txBox="1"/>
          <p:nvPr/>
        </p:nvSpPr>
        <p:spPr>
          <a:xfrm>
            <a:off x="914400" y="2743200"/>
            <a:ext cx="10058400" cy="731520"/>
          </a:xfrm>
          <a:prstGeom prst="rect">
            <a:avLst/>
          </a:prstGeom>
          <a:noFill/>
        </p:spPr>
        <p:txBody>
          <a:bodyPr wrap="square">
            <a:spAutoFit/>
          </a:bodyPr>
          <a:lstStyle/>
          <a:p>
            <a:pPr algn="ctr">
              <a:defRPr sz="2400" b="0">
                <a:solidFill>
                  <a:srgbClr val="0096C7"/>
                </a:solidFill>
                <a:latin typeface="Calibri"/>
              </a:defRPr>
            </a:pPr>
            <a:r>
              <a:t>Which Acoustic Features Identify Deepfakes</a:t>
            </a:r>
            <a:br/>
            <a:r>
              <a:t>Regardless of Codec Compression?</a:t>
            </a:r>
          </a:p>
        </p:txBody>
      </p:sp>
      <p:sp>
        <p:nvSpPr>
          <p:cNvPr id="4" name="TextBox 3"/>
          <p:cNvSpPr txBox="1"/>
          <p:nvPr/>
        </p:nvSpPr>
        <p:spPr>
          <a:xfrm>
            <a:off x="914400" y="4114800"/>
            <a:ext cx="10058400" cy="457200"/>
          </a:xfrm>
          <a:prstGeom prst="rect">
            <a:avLst/>
          </a:prstGeom>
          <a:noFill/>
        </p:spPr>
        <p:txBody>
          <a:bodyPr wrap="square">
            <a:spAutoFit/>
          </a:bodyPr>
          <a:lstStyle/>
          <a:p>
            <a:pPr algn="ctr">
              <a:defRPr sz="1800" b="0">
                <a:solidFill>
                  <a:srgbClr val="CCCCCC"/>
                </a:solidFill>
                <a:latin typeface="Calibri"/>
              </a:defRPr>
            </a:pPr>
            <a:r>
              <a:t>[Your Name]  •  [Affiliation]</a:t>
            </a:r>
          </a:p>
        </p:txBody>
      </p:sp>
      <p:sp>
        <p:nvSpPr>
          <p:cNvPr id="5" name="TextBox 4"/>
          <p:cNvSpPr txBox="1"/>
          <p:nvPr/>
        </p:nvSpPr>
        <p:spPr>
          <a:xfrm>
            <a:off x="914400" y="5029200"/>
            <a:ext cx="10058400" cy="457200"/>
          </a:xfrm>
          <a:prstGeom prst="rect">
            <a:avLst/>
          </a:prstGeom>
          <a:noFill/>
        </p:spPr>
        <p:txBody>
          <a:bodyPr wrap="square">
            <a:spAutoFit/>
          </a:bodyPr>
          <a:lstStyle/>
          <a:p>
            <a:pPr algn="ctr">
              <a:defRPr sz="1600" b="0">
                <a:solidFill>
                  <a:srgbClr val="CCCCCC"/>
                </a:solidFill>
                <a:latin typeface="Calibri"/>
              </a:defRPr>
            </a:pPr>
            <a:r>
              <a:t>MCCNNY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274320"/>
            <a:ext cx="10972800" cy="457200"/>
          </a:xfrm>
          <a:prstGeom prst="rect">
            <a:avLst/>
          </a:prstGeom>
          <a:noFill/>
        </p:spPr>
        <p:txBody>
          <a:bodyPr wrap="square">
            <a:spAutoFit/>
          </a:bodyPr>
          <a:lstStyle/>
          <a:p>
            <a:pPr algn="l">
              <a:defRPr sz="3200" b="1">
                <a:solidFill>
                  <a:srgbClr val="FFFFFF"/>
                </a:solidFill>
                <a:latin typeface="Calibri"/>
              </a:defRPr>
            </a:pPr>
            <a:r>
              <a:t>The Problem</a:t>
            </a:r>
          </a:p>
        </p:txBody>
      </p:sp>
      <p:sp>
        <p:nvSpPr>
          <p:cNvPr id="3" name="TextBox 2"/>
          <p:cNvSpPr txBox="1"/>
          <p:nvPr/>
        </p:nvSpPr>
        <p:spPr>
          <a:xfrm>
            <a:off x="731520" y="914400"/>
            <a:ext cx="5029200" cy="2286000"/>
          </a:xfrm>
          <a:prstGeom prst="rect">
            <a:avLst/>
          </a:prstGeom>
          <a:noFill/>
        </p:spPr>
        <p:txBody>
          <a:bodyPr wrap="square">
            <a:spAutoFit/>
          </a:bodyPr>
          <a:lstStyle/>
          <a:p>
            <a:pPr>
              <a:spcAft>
                <a:spcPts val="300"/>
              </a:spcAft>
              <a:defRPr sz="1500">
                <a:solidFill>
                  <a:srgbClr val="FFFFFF"/>
                </a:solidFill>
                <a:latin typeface="Calibri"/>
              </a:defRPr>
            </a:pPr>
            <a:r>
              <a:t>We want to detect fake audio (deepfakes).</a:t>
            </a:r>
          </a:p>
          <a:p>
            <a:pPr>
              <a:spcAft>
                <a:spcPts val="300"/>
              </a:spcAft>
              <a:defRPr sz="1500">
                <a:solidFill>
                  <a:srgbClr val="FFFFFF"/>
                </a:solidFill>
                <a:latin typeface="Calibri"/>
              </a:defRPr>
            </a:pPr>
          </a:p>
          <a:p>
            <a:pPr>
              <a:spcAft>
                <a:spcPts val="300"/>
              </a:spcAft>
              <a:defRPr sz="1500">
                <a:solidFill>
                  <a:srgbClr val="FFFFFF"/>
                </a:solidFill>
                <a:latin typeface="Calibri"/>
              </a:defRPr>
            </a:pPr>
            <a:r>
              <a:t>• Train a detector on clean studio recordings</a:t>
            </a:r>
          </a:p>
          <a:p>
            <a:pPr>
              <a:spcAft>
                <a:spcPts val="300"/>
              </a:spcAft>
              <a:defRPr sz="1500">
                <a:solidFill>
                  <a:srgbClr val="FFFFFF"/>
                </a:solidFill>
                <a:latin typeface="Calibri"/>
              </a:defRPr>
            </a:pPr>
            <a:r>
              <a:t>• Deploy it on phone calls, VoIP, social media</a:t>
            </a:r>
          </a:p>
          <a:p>
            <a:pPr>
              <a:spcAft>
                <a:spcPts val="300"/>
              </a:spcAft>
              <a:defRPr sz="1500">
                <a:solidFill>
                  <a:srgbClr val="FFFFFF"/>
                </a:solidFill>
                <a:latin typeface="Calibri"/>
              </a:defRPr>
            </a:pPr>
            <a:r>
              <a:t>• Phone networks compress audio (codecs)</a:t>
            </a:r>
          </a:p>
          <a:p>
            <a:pPr>
              <a:spcAft>
                <a:spcPts val="300"/>
              </a:spcAft>
              <a:defRPr sz="1500">
                <a:solidFill>
                  <a:srgbClr val="FFFFFF"/>
                </a:solidFill>
                <a:latin typeface="Calibri"/>
              </a:defRPr>
            </a:pPr>
            <a:r>
              <a:t>• Compression distorts the features</a:t>
            </a:r>
          </a:p>
          <a:p>
            <a:pPr>
              <a:spcAft>
                <a:spcPts val="300"/>
              </a:spcAft>
              <a:defRPr sz="1500">
                <a:solidFill>
                  <a:srgbClr val="FFFFFF"/>
                </a:solidFill>
                <a:latin typeface="Calibri"/>
              </a:defRPr>
            </a:pPr>
            <a:r>
              <a:t>• Detector stops working</a:t>
            </a:r>
          </a:p>
        </p:txBody>
      </p:sp>
      <p:sp>
        <p:nvSpPr>
          <p:cNvPr id="4" name="TextBox 3"/>
          <p:cNvSpPr txBox="1"/>
          <p:nvPr/>
        </p:nvSpPr>
        <p:spPr>
          <a:xfrm>
            <a:off x="6400800" y="914400"/>
            <a:ext cx="5029200" cy="2286000"/>
          </a:xfrm>
          <a:prstGeom prst="rect">
            <a:avLst/>
          </a:prstGeom>
          <a:noFill/>
        </p:spPr>
        <p:txBody>
          <a:bodyPr wrap="square">
            <a:spAutoFit/>
          </a:bodyPr>
          <a:lstStyle/>
          <a:p>
            <a:pPr>
              <a:spcAft>
                <a:spcPts val="300"/>
              </a:spcAft>
              <a:defRPr sz="1500">
                <a:solidFill>
                  <a:srgbClr val="FFFFFF"/>
                </a:solidFill>
                <a:latin typeface="Calibri"/>
              </a:defRPr>
            </a:pPr>
            <a:r>
              <a:t>The numbers:</a:t>
            </a:r>
          </a:p>
          <a:p>
            <a:pPr>
              <a:spcAft>
                <a:spcPts val="300"/>
              </a:spcAft>
              <a:defRPr sz="1500">
                <a:solidFill>
                  <a:srgbClr val="FFFFFF"/>
                </a:solidFill>
                <a:latin typeface="Calibri"/>
              </a:defRPr>
            </a:pPr>
          </a:p>
          <a:p>
            <a:pPr>
              <a:spcAft>
                <a:spcPts val="300"/>
              </a:spcAft>
              <a:defRPr sz="1500">
                <a:solidFill>
                  <a:srgbClr val="FFFFFF"/>
                </a:solidFill>
                <a:latin typeface="Calibri"/>
              </a:defRPr>
            </a:pPr>
            <a:r>
              <a:t>• In the lab: 7% error rate (good)</a:t>
            </a:r>
          </a:p>
          <a:p>
            <a:pPr>
              <a:spcAft>
                <a:spcPts val="300"/>
              </a:spcAft>
              <a:defRPr sz="1500">
                <a:solidFill>
                  <a:srgbClr val="FFFFFF"/>
                </a:solidFill>
                <a:latin typeface="Calibri"/>
              </a:defRPr>
            </a:pPr>
            <a:r>
              <a:t>• After compression: 50% error rate</a:t>
            </a:r>
          </a:p>
          <a:p>
            <a:pPr>
              <a:spcAft>
                <a:spcPts val="300"/>
              </a:spcAft>
              <a:defRPr sz="1500">
                <a:solidFill>
                  <a:srgbClr val="FFFFFF"/>
                </a:solidFill>
                <a:latin typeface="Calibri"/>
              </a:defRPr>
            </a:pPr>
            <a:r>
              <a:t>  (same as a coin flip — useless)</a:t>
            </a:r>
          </a:p>
          <a:p>
            <a:pPr>
              <a:spcAft>
                <a:spcPts val="300"/>
              </a:spcAft>
              <a:defRPr sz="1500">
                <a:solidFill>
                  <a:srgbClr val="FFFFFF"/>
                </a:solidFill>
                <a:latin typeface="Calibri"/>
              </a:defRPr>
            </a:pPr>
          </a:p>
          <a:p>
            <a:pPr>
              <a:spcAft>
                <a:spcPts val="300"/>
              </a:spcAft>
              <a:defRPr sz="1500">
                <a:solidFill>
                  <a:srgbClr val="FFFFFF"/>
                </a:solidFill>
                <a:latin typeface="Calibri"/>
              </a:defRPr>
            </a:pPr>
            <a:r>
              <a:t>• Question: which features survive?</a:t>
            </a:r>
          </a:p>
        </p:txBody>
      </p:sp>
      <p:pic>
        <p:nvPicPr>
          <p:cNvPr id="5" name="Picture 4" descr="fig3_eer_degradation.png"/>
          <p:cNvPicPr>
            <a:picLocks noChangeAspect="1"/>
          </p:cNvPicPr>
          <p:nvPr/>
        </p:nvPicPr>
        <p:blipFill>
          <a:blip r:embed="rId2"/>
          <a:stretch>
            <a:fillRect/>
          </a:stretch>
        </p:blipFill>
        <p:spPr>
          <a:xfrm>
            <a:off x="1371600" y="3474720"/>
            <a:ext cx="9144000" cy="29260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182880"/>
            <a:ext cx="10972800" cy="457200"/>
          </a:xfrm>
          <a:prstGeom prst="rect">
            <a:avLst/>
          </a:prstGeom>
          <a:noFill/>
        </p:spPr>
        <p:txBody>
          <a:bodyPr wrap="square">
            <a:spAutoFit/>
          </a:bodyPr>
          <a:lstStyle/>
          <a:p>
            <a:pPr algn="l">
              <a:defRPr sz="3000" b="1">
                <a:solidFill>
                  <a:srgbClr val="FFFFFF"/>
                </a:solidFill>
                <a:latin typeface="Calibri"/>
              </a:defRPr>
            </a:pPr>
            <a:r>
              <a:t>Why These 36 Features?</a:t>
            </a:r>
          </a:p>
        </p:txBody>
      </p:sp>
      <p:pic>
        <p:nvPicPr>
          <p:cNvPr id="3" name="Picture 2" descr="fig9_pipeline.png"/>
          <p:cNvPicPr>
            <a:picLocks noChangeAspect="1"/>
          </p:cNvPicPr>
          <p:nvPr/>
        </p:nvPicPr>
        <p:blipFill>
          <a:blip r:embed="rId2"/>
          <a:stretch>
            <a:fillRect/>
          </a:stretch>
        </p:blipFill>
        <p:spPr>
          <a:xfrm>
            <a:off x="274320" y="640080"/>
            <a:ext cx="11430000" cy="2926080"/>
          </a:xfrm>
          <a:prstGeom prst="rect">
            <a:avLst/>
          </a:prstGeom>
        </p:spPr>
      </p:pic>
      <p:sp>
        <p:nvSpPr>
          <p:cNvPr id="4" name="TextBox 3"/>
          <p:cNvSpPr txBox="1"/>
          <p:nvPr/>
        </p:nvSpPr>
        <p:spPr>
          <a:xfrm>
            <a:off x="731520" y="3749039"/>
            <a:ext cx="10972800" cy="365760"/>
          </a:xfrm>
          <a:prstGeom prst="rect">
            <a:avLst/>
          </a:prstGeom>
          <a:noFill/>
        </p:spPr>
        <p:txBody>
          <a:bodyPr wrap="square">
            <a:spAutoFit/>
          </a:bodyPr>
          <a:lstStyle/>
          <a:p>
            <a:pPr algn="l">
              <a:defRPr sz="1600" b="1">
                <a:solidFill>
                  <a:srgbClr val="F39C12"/>
                </a:solidFill>
                <a:latin typeface="Calibri"/>
              </a:defRPr>
            </a:pPr>
            <a:r>
              <a:t>4 groups, each captures something different about the audio:</a:t>
            </a:r>
          </a:p>
        </p:txBody>
      </p:sp>
      <p:sp>
        <p:nvSpPr>
          <p:cNvPr id="5" name="Rounded Rectangle 4"/>
          <p:cNvSpPr/>
          <p:nvPr/>
        </p:nvSpPr>
        <p:spPr>
          <a:xfrm>
            <a:off x="457200" y="4206240"/>
            <a:ext cx="2743200" cy="2103120"/>
          </a:xfrm>
          <a:prstGeom prst="roundRect">
            <a:avLst/>
          </a:prstGeom>
          <a:solidFill>
            <a:srgbClr val="1A3A5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4297680"/>
            <a:ext cx="2560320" cy="274320"/>
          </a:xfrm>
          <a:prstGeom prst="rect">
            <a:avLst/>
          </a:prstGeom>
          <a:noFill/>
        </p:spPr>
        <p:txBody>
          <a:bodyPr wrap="square">
            <a:spAutoFit/>
          </a:bodyPr>
          <a:lstStyle/>
          <a:p>
            <a:pPr algn="l">
              <a:defRPr sz="1400" b="1">
                <a:solidFill>
                  <a:srgbClr val="3498DB"/>
                </a:solidFill>
                <a:latin typeface="Calibri"/>
              </a:defRPr>
            </a:pPr>
            <a:r>
              <a:t>PNCC (13 dims)</a:t>
            </a:r>
          </a:p>
        </p:txBody>
      </p:sp>
      <p:sp>
        <p:nvSpPr>
          <p:cNvPr id="7" name="TextBox 6"/>
          <p:cNvSpPr txBox="1"/>
          <p:nvPr/>
        </p:nvSpPr>
        <p:spPr>
          <a:xfrm>
            <a:off x="548640" y="4617720"/>
            <a:ext cx="2560320" cy="1371600"/>
          </a:xfrm>
          <a:prstGeom prst="rect">
            <a:avLst/>
          </a:prstGeom>
          <a:noFill/>
        </p:spPr>
        <p:txBody>
          <a:bodyPr wrap="square">
            <a:spAutoFit/>
          </a:bodyPr>
          <a:lstStyle/>
          <a:p>
            <a:pPr>
              <a:spcAft>
                <a:spcPts val="300"/>
              </a:spcAft>
              <a:defRPr sz="1100">
                <a:solidFill>
                  <a:srgbClr val="CCCCCC"/>
                </a:solidFill>
                <a:latin typeface="Calibri"/>
              </a:defRPr>
            </a:pPr>
            <a:r>
              <a:t>Spectral shape</a:t>
            </a:r>
          </a:p>
          <a:p>
            <a:pPr>
              <a:spcAft>
                <a:spcPts val="300"/>
              </a:spcAft>
              <a:defRPr sz="1100">
                <a:solidFill>
                  <a:srgbClr val="CCCCCC"/>
                </a:solidFill>
                <a:latin typeface="Calibri"/>
              </a:defRPr>
            </a:pPr>
            <a:r>
              <a:t>Models how the ear</a:t>
            </a:r>
          </a:p>
          <a:p>
            <a:pPr>
              <a:spcAft>
                <a:spcPts val="300"/>
              </a:spcAft>
              <a:defRPr sz="1100">
                <a:solidFill>
                  <a:srgbClr val="CCCCCC"/>
                </a:solidFill>
                <a:latin typeface="Calibri"/>
              </a:defRPr>
            </a:pPr>
            <a:r>
              <a:t>hears sound</a:t>
            </a:r>
          </a:p>
          <a:p>
            <a:pPr>
              <a:spcAft>
                <a:spcPts val="300"/>
              </a:spcAft>
              <a:defRPr sz="1100">
                <a:solidFill>
                  <a:srgbClr val="CCCCCC"/>
                </a:solidFill>
                <a:latin typeface="Calibri"/>
              </a:defRPr>
            </a:pPr>
            <a:r>
              <a:t>(gammatone filterbank)</a:t>
            </a:r>
          </a:p>
        </p:txBody>
      </p:sp>
      <p:sp>
        <p:nvSpPr>
          <p:cNvPr id="8" name="Rounded Rectangle 7"/>
          <p:cNvSpPr/>
          <p:nvPr/>
        </p:nvSpPr>
        <p:spPr>
          <a:xfrm>
            <a:off x="3383280" y="4206240"/>
            <a:ext cx="2743200" cy="2103120"/>
          </a:xfrm>
          <a:prstGeom prst="roundRect">
            <a:avLst/>
          </a:prstGeom>
          <a:solidFill>
            <a:srgbClr val="3A2A1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0" y="4297680"/>
            <a:ext cx="2560320" cy="274320"/>
          </a:xfrm>
          <a:prstGeom prst="rect">
            <a:avLst/>
          </a:prstGeom>
          <a:noFill/>
        </p:spPr>
        <p:txBody>
          <a:bodyPr wrap="square">
            <a:spAutoFit/>
          </a:bodyPr>
          <a:lstStyle/>
          <a:p>
            <a:pPr algn="l">
              <a:defRPr sz="1400" b="1">
                <a:solidFill>
                  <a:srgbClr val="E67E22"/>
                </a:solidFill>
                <a:latin typeface="Calibri"/>
              </a:defRPr>
            </a:pPr>
            <a:r>
              <a:t>LFCC (8 dims)</a:t>
            </a:r>
          </a:p>
        </p:txBody>
      </p:sp>
      <p:sp>
        <p:nvSpPr>
          <p:cNvPr id="10" name="TextBox 9"/>
          <p:cNvSpPr txBox="1"/>
          <p:nvPr/>
        </p:nvSpPr>
        <p:spPr>
          <a:xfrm>
            <a:off x="3474720" y="4617720"/>
            <a:ext cx="2560320" cy="1371600"/>
          </a:xfrm>
          <a:prstGeom prst="rect">
            <a:avLst/>
          </a:prstGeom>
          <a:noFill/>
        </p:spPr>
        <p:txBody>
          <a:bodyPr wrap="square">
            <a:spAutoFit/>
          </a:bodyPr>
          <a:lstStyle/>
          <a:p>
            <a:pPr>
              <a:spcAft>
                <a:spcPts val="300"/>
              </a:spcAft>
              <a:defRPr sz="1100">
                <a:solidFill>
                  <a:srgbClr val="CCCCCC"/>
                </a:solidFill>
                <a:latin typeface="Calibri"/>
              </a:defRPr>
            </a:pPr>
            <a:r>
              <a:t>Spectral detail</a:t>
            </a:r>
          </a:p>
          <a:p>
            <a:pPr>
              <a:spcAft>
                <a:spcPts val="300"/>
              </a:spcAft>
              <a:defRPr sz="1100">
                <a:solidFill>
                  <a:srgbClr val="CCCCCC"/>
                </a:solidFill>
                <a:latin typeface="Calibri"/>
              </a:defRPr>
            </a:pPr>
            <a:r>
              <a:t>Equal resolution at</a:t>
            </a:r>
          </a:p>
          <a:p>
            <a:pPr>
              <a:spcAft>
                <a:spcPts val="300"/>
              </a:spcAft>
              <a:defRPr sz="1100">
                <a:solidFill>
                  <a:srgbClr val="CCCCCC"/>
                </a:solidFill>
                <a:latin typeface="Calibri"/>
              </a:defRPr>
            </a:pPr>
            <a:r>
              <a:t>all frequencies</a:t>
            </a:r>
          </a:p>
          <a:p>
            <a:pPr>
              <a:spcAft>
                <a:spcPts val="300"/>
              </a:spcAft>
              <a:defRPr sz="1100">
                <a:solidFill>
                  <a:srgbClr val="CCCCCC"/>
                </a:solidFill>
                <a:latin typeface="Calibri"/>
              </a:defRPr>
            </a:pPr>
            <a:r>
              <a:t>(catches high-freq artifacts)</a:t>
            </a:r>
          </a:p>
        </p:txBody>
      </p:sp>
      <p:sp>
        <p:nvSpPr>
          <p:cNvPr id="11" name="Rounded Rectangle 10"/>
          <p:cNvSpPr/>
          <p:nvPr/>
        </p:nvSpPr>
        <p:spPr>
          <a:xfrm>
            <a:off x="6309360" y="4206240"/>
            <a:ext cx="2743200" cy="2103120"/>
          </a:xfrm>
          <a:prstGeom prst="roundRect">
            <a:avLst/>
          </a:prstGeom>
          <a:solidFill>
            <a:srgbClr val="1A3A1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297680"/>
            <a:ext cx="2560320" cy="274320"/>
          </a:xfrm>
          <a:prstGeom prst="rect">
            <a:avLst/>
          </a:prstGeom>
          <a:noFill/>
        </p:spPr>
        <p:txBody>
          <a:bodyPr wrap="square">
            <a:spAutoFit/>
          </a:bodyPr>
          <a:lstStyle/>
          <a:p>
            <a:pPr algn="l">
              <a:defRPr sz="1400" b="1">
                <a:solidFill>
                  <a:srgbClr val="2ECC71"/>
                </a:solidFill>
                <a:latin typeface="Calibri"/>
              </a:defRPr>
            </a:pPr>
            <a:r>
              <a:t>Formants (8 dims)</a:t>
            </a:r>
          </a:p>
        </p:txBody>
      </p:sp>
      <p:sp>
        <p:nvSpPr>
          <p:cNvPr id="13" name="TextBox 12"/>
          <p:cNvSpPr txBox="1"/>
          <p:nvPr/>
        </p:nvSpPr>
        <p:spPr>
          <a:xfrm>
            <a:off x="6400800" y="4617720"/>
            <a:ext cx="2560320" cy="1371600"/>
          </a:xfrm>
          <a:prstGeom prst="rect">
            <a:avLst/>
          </a:prstGeom>
          <a:noFill/>
        </p:spPr>
        <p:txBody>
          <a:bodyPr wrap="square">
            <a:spAutoFit/>
          </a:bodyPr>
          <a:lstStyle/>
          <a:p>
            <a:pPr>
              <a:spcAft>
                <a:spcPts val="300"/>
              </a:spcAft>
              <a:defRPr sz="1100">
                <a:solidFill>
                  <a:srgbClr val="CCCCCC"/>
                </a:solidFill>
                <a:latin typeface="Calibri"/>
              </a:defRPr>
            </a:pPr>
            <a:r>
              <a:t>Vocal tract resonances</a:t>
            </a:r>
          </a:p>
          <a:p>
            <a:pPr>
              <a:spcAft>
                <a:spcPts val="300"/>
              </a:spcAft>
              <a:defRPr sz="1100">
                <a:solidFill>
                  <a:srgbClr val="CCCCCC"/>
                </a:solidFill>
                <a:latin typeface="Calibri"/>
              </a:defRPr>
            </a:pPr>
            <a:r>
              <a:t>F1 = jaw opening</a:t>
            </a:r>
          </a:p>
          <a:p>
            <a:pPr>
              <a:spcAft>
                <a:spcPts val="300"/>
              </a:spcAft>
              <a:defRPr sz="1100">
                <a:solidFill>
                  <a:srgbClr val="CCCCCC"/>
                </a:solidFill>
                <a:latin typeface="Calibri"/>
              </a:defRPr>
            </a:pPr>
            <a:r>
              <a:t>F2 = tongue position</a:t>
            </a:r>
          </a:p>
          <a:p>
            <a:pPr>
              <a:spcAft>
                <a:spcPts val="300"/>
              </a:spcAft>
              <a:defRPr sz="1100">
                <a:solidFill>
                  <a:srgbClr val="CCCCCC"/>
                </a:solidFill>
                <a:latin typeface="Calibri"/>
              </a:defRPr>
            </a:pPr>
            <a:r>
              <a:t>(shape of the mouth)</a:t>
            </a:r>
          </a:p>
        </p:txBody>
      </p:sp>
      <p:sp>
        <p:nvSpPr>
          <p:cNvPr id="14" name="Rounded Rectangle 13"/>
          <p:cNvSpPr/>
          <p:nvPr/>
        </p:nvSpPr>
        <p:spPr>
          <a:xfrm>
            <a:off x="9235440" y="4206240"/>
            <a:ext cx="2560320" cy="2103120"/>
          </a:xfrm>
          <a:prstGeom prst="roundRect">
            <a:avLst/>
          </a:prstGeom>
          <a:solidFill>
            <a:srgbClr val="2A1A3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0" y="4297680"/>
            <a:ext cx="2377440" cy="274320"/>
          </a:xfrm>
          <a:prstGeom prst="rect">
            <a:avLst/>
          </a:prstGeom>
          <a:noFill/>
        </p:spPr>
        <p:txBody>
          <a:bodyPr wrap="square">
            <a:spAutoFit/>
          </a:bodyPr>
          <a:lstStyle/>
          <a:p>
            <a:pPr algn="l">
              <a:defRPr sz="1400" b="1">
                <a:solidFill>
                  <a:srgbClr val="9B59B6"/>
                </a:solidFill>
                <a:latin typeface="Calibri"/>
              </a:defRPr>
            </a:pPr>
            <a:r>
              <a:t>Prosody (7 dims)</a:t>
            </a:r>
          </a:p>
        </p:txBody>
      </p:sp>
      <p:sp>
        <p:nvSpPr>
          <p:cNvPr id="16" name="TextBox 15"/>
          <p:cNvSpPr txBox="1"/>
          <p:nvPr/>
        </p:nvSpPr>
        <p:spPr>
          <a:xfrm>
            <a:off x="9326880" y="4617720"/>
            <a:ext cx="2377440" cy="1371600"/>
          </a:xfrm>
          <a:prstGeom prst="rect">
            <a:avLst/>
          </a:prstGeom>
          <a:noFill/>
        </p:spPr>
        <p:txBody>
          <a:bodyPr wrap="square">
            <a:spAutoFit/>
          </a:bodyPr>
          <a:lstStyle/>
          <a:p>
            <a:pPr>
              <a:spcAft>
                <a:spcPts val="300"/>
              </a:spcAft>
              <a:defRPr sz="1100">
                <a:solidFill>
                  <a:srgbClr val="CCCCCC"/>
                </a:solidFill>
                <a:latin typeface="Calibri"/>
              </a:defRPr>
            </a:pPr>
            <a:r>
              <a:t>Rhythm &amp; melody</a:t>
            </a:r>
          </a:p>
          <a:p>
            <a:pPr>
              <a:spcAft>
                <a:spcPts val="300"/>
              </a:spcAft>
              <a:defRPr sz="1100">
                <a:solidFill>
                  <a:srgbClr val="CCCCCC"/>
                </a:solidFill>
                <a:latin typeface="Calibri"/>
              </a:defRPr>
            </a:pPr>
            <a:r>
              <a:t>Pitch (F0), energy,</a:t>
            </a:r>
          </a:p>
          <a:p>
            <a:pPr>
              <a:spcAft>
                <a:spcPts val="300"/>
              </a:spcAft>
              <a:defRPr sz="1100">
                <a:solidFill>
                  <a:srgbClr val="CCCCCC"/>
                </a:solidFill>
                <a:latin typeface="Calibri"/>
              </a:defRPr>
            </a:pPr>
            <a:r>
              <a:t>speaking rate,</a:t>
            </a:r>
          </a:p>
          <a:p>
            <a:pPr>
              <a:spcAft>
                <a:spcPts val="300"/>
              </a:spcAft>
              <a:defRPr sz="1100">
                <a:solidFill>
                  <a:srgbClr val="CCCCCC"/>
                </a:solidFill>
                <a:latin typeface="Calibri"/>
              </a:defRPr>
            </a:pPr>
            <a:r>
              <a:t>duration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182880"/>
            <a:ext cx="10972800" cy="457200"/>
          </a:xfrm>
          <a:prstGeom prst="rect">
            <a:avLst/>
          </a:prstGeom>
          <a:noFill/>
        </p:spPr>
        <p:txBody>
          <a:bodyPr wrap="square">
            <a:spAutoFit/>
          </a:bodyPr>
          <a:lstStyle/>
          <a:p>
            <a:pPr algn="l">
              <a:defRPr sz="3000" b="1">
                <a:solidFill>
                  <a:srgbClr val="FFFFFF"/>
                </a:solidFill>
                <a:latin typeface="Calibri"/>
              </a:defRPr>
            </a:pPr>
            <a:r>
              <a:t>What Does Our Data Look Like?</a:t>
            </a:r>
          </a:p>
        </p:txBody>
      </p:sp>
      <p:pic>
        <p:nvPicPr>
          <p:cNvPr id="3" name="Picture 2" descr="fig7_distribution_shapes.png"/>
          <p:cNvPicPr>
            <a:picLocks noChangeAspect="1"/>
          </p:cNvPicPr>
          <p:nvPr/>
        </p:nvPicPr>
        <p:blipFill>
          <a:blip r:embed="rId2"/>
          <a:stretch>
            <a:fillRect/>
          </a:stretch>
        </p:blipFill>
        <p:spPr>
          <a:xfrm>
            <a:off x="274320" y="640080"/>
            <a:ext cx="7772400" cy="5029200"/>
          </a:xfrm>
          <a:prstGeom prst="rect">
            <a:avLst/>
          </a:prstGeom>
        </p:spPr>
      </p:pic>
      <p:sp>
        <p:nvSpPr>
          <p:cNvPr id="4" name="TextBox 3"/>
          <p:cNvSpPr txBox="1"/>
          <p:nvPr/>
        </p:nvSpPr>
        <p:spPr>
          <a:xfrm>
            <a:off x="8412480" y="731520"/>
            <a:ext cx="3474720" cy="365760"/>
          </a:xfrm>
          <a:prstGeom prst="rect">
            <a:avLst/>
          </a:prstGeom>
          <a:noFill/>
        </p:spPr>
        <p:txBody>
          <a:bodyPr wrap="square">
            <a:spAutoFit/>
          </a:bodyPr>
          <a:lstStyle/>
          <a:p>
            <a:pPr algn="l">
              <a:defRPr sz="1800" b="1">
                <a:solidFill>
                  <a:srgbClr val="F39C12"/>
                </a:solidFill>
                <a:latin typeface="Calibri"/>
              </a:defRPr>
            </a:pPr>
            <a:r>
              <a:t>Distribution Check</a:t>
            </a:r>
          </a:p>
        </p:txBody>
      </p:sp>
      <p:sp>
        <p:nvSpPr>
          <p:cNvPr id="5" name="TextBox 4"/>
          <p:cNvSpPr txBox="1"/>
          <p:nvPr/>
        </p:nvSpPr>
        <p:spPr>
          <a:xfrm>
            <a:off x="8412480" y="1188720"/>
            <a:ext cx="3474720" cy="5029200"/>
          </a:xfrm>
          <a:prstGeom prst="rect">
            <a:avLst/>
          </a:prstGeom>
          <a:noFill/>
        </p:spPr>
        <p:txBody>
          <a:bodyPr wrap="square">
            <a:spAutoFit/>
          </a:bodyPr>
          <a:lstStyle/>
          <a:p>
            <a:pPr>
              <a:spcAft>
                <a:spcPts val="300"/>
              </a:spcAft>
              <a:defRPr sz="1100">
                <a:solidFill>
                  <a:srgbClr val="CCCCCC"/>
                </a:solidFill>
                <a:latin typeface="Calibri"/>
              </a:defRPr>
            </a:pPr>
            <a:r>
              <a:t>Before choosing statistical tests,</a:t>
            </a:r>
          </a:p>
          <a:p>
            <a:pPr>
              <a:spcAft>
                <a:spcPts val="300"/>
              </a:spcAft>
              <a:defRPr sz="1100">
                <a:solidFill>
                  <a:srgbClr val="CCCCCC"/>
                </a:solidFill>
                <a:latin typeface="Calibri"/>
              </a:defRPr>
            </a:pPr>
            <a:r>
              <a:t>we check if data is bell-shaped</a:t>
            </a:r>
          </a:p>
          <a:p>
            <a:pPr>
              <a:spcAft>
                <a:spcPts val="300"/>
              </a:spcAft>
              <a:defRPr sz="1100">
                <a:solidFill>
                  <a:srgbClr val="CCCCCC"/>
                </a:solidFill>
                <a:latin typeface="Calibri"/>
              </a:defRPr>
            </a:pPr>
            <a:r>
              <a:t>(normally distributed).</a:t>
            </a:r>
          </a:p>
          <a:p>
            <a:pPr>
              <a:spcAft>
                <a:spcPts val="300"/>
              </a:spcAft>
              <a:defRPr sz="1100">
                <a:solidFill>
                  <a:srgbClr val="CCCCCC"/>
                </a:solidFill>
                <a:latin typeface="Calibri"/>
              </a:defRPr>
            </a:pPr>
          </a:p>
          <a:p>
            <a:pPr>
              <a:spcAft>
                <a:spcPts val="300"/>
              </a:spcAft>
              <a:defRPr sz="1100">
                <a:solidFill>
                  <a:srgbClr val="CCCCCC"/>
                </a:solidFill>
                <a:latin typeface="Calibri"/>
              </a:defRPr>
            </a:pPr>
            <a:r>
              <a:t>Skewness: is it lopsided?</a:t>
            </a:r>
          </a:p>
          <a:p>
            <a:pPr>
              <a:spcAft>
                <a:spcPts val="300"/>
              </a:spcAft>
              <a:defRPr sz="1100">
                <a:solidFill>
                  <a:srgbClr val="CCCCCC"/>
                </a:solidFill>
                <a:latin typeface="Calibri"/>
              </a:defRPr>
            </a:pPr>
            <a:r>
              <a:t>  • |skew| &lt; 1 = okay</a:t>
            </a:r>
          </a:p>
          <a:p>
            <a:pPr>
              <a:spcAft>
                <a:spcPts val="300"/>
              </a:spcAft>
              <a:defRPr sz="1100">
                <a:solidFill>
                  <a:srgbClr val="CCCCCC"/>
                </a:solidFill>
                <a:latin typeface="Calibri"/>
              </a:defRPr>
            </a:pPr>
          </a:p>
          <a:p>
            <a:pPr>
              <a:spcAft>
                <a:spcPts val="300"/>
              </a:spcAft>
              <a:defRPr sz="1100">
                <a:solidFill>
                  <a:srgbClr val="CCCCCC"/>
                </a:solidFill>
                <a:latin typeface="Calibri"/>
              </a:defRPr>
            </a:pPr>
            <a:r>
              <a:t>Kurtosis: heavy tails?</a:t>
            </a:r>
          </a:p>
          <a:p>
            <a:pPr>
              <a:spcAft>
                <a:spcPts val="300"/>
              </a:spcAft>
              <a:defRPr sz="1100">
                <a:solidFill>
                  <a:srgbClr val="CCCCCC"/>
                </a:solidFill>
                <a:latin typeface="Calibri"/>
              </a:defRPr>
            </a:pPr>
            <a:r>
              <a:t>  • |kurt| &lt; 3 = okay</a:t>
            </a:r>
          </a:p>
          <a:p>
            <a:pPr>
              <a:spcAft>
                <a:spcPts val="300"/>
              </a:spcAft>
              <a:defRPr sz="1100">
                <a:solidFill>
                  <a:srgbClr val="CCCCCC"/>
                </a:solidFill>
                <a:latin typeface="Calibri"/>
              </a:defRPr>
            </a:pPr>
          </a:p>
          <a:p>
            <a:pPr>
              <a:spcAft>
                <a:spcPts val="300"/>
              </a:spcAft>
              <a:defRPr sz="1100">
                <a:solidFill>
                  <a:srgbClr val="CCCCCC"/>
                </a:solidFill>
                <a:latin typeface="Calibri"/>
              </a:defRPr>
            </a:pPr>
            <a:r>
              <a:t>Result: 34 of 36 features</a:t>
            </a:r>
          </a:p>
          <a:p>
            <a:pPr>
              <a:spcAft>
                <a:spcPts val="300"/>
              </a:spcAft>
              <a:defRPr sz="1100">
                <a:solidFill>
                  <a:srgbClr val="CCCCCC"/>
                </a:solidFill>
                <a:latin typeface="Calibri"/>
              </a:defRPr>
            </a:pPr>
            <a:r>
              <a:t>are near-normal.</a:t>
            </a:r>
          </a:p>
          <a:p>
            <a:pPr>
              <a:spcAft>
                <a:spcPts val="300"/>
              </a:spcAft>
              <a:defRPr sz="1100">
                <a:solidFill>
                  <a:srgbClr val="CCCCCC"/>
                </a:solidFill>
                <a:latin typeface="Calibri"/>
              </a:defRPr>
            </a:pPr>
          </a:p>
          <a:p>
            <a:pPr>
              <a:spcAft>
                <a:spcPts val="300"/>
              </a:spcAft>
              <a:defRPr sz="1100">
                <a:solidFill>
                  <a:srgbClr val="CCCCCC"/>
                </a:solidFill>
                <a:latin typeface="Calibri"/>
              </a:defRPr>
            </a:pPr>
            <a:r>
              <a:t>This means we CAN use</a:t>
            </a:r>
          </a:p>
          <a:p>
            <a:pPr>
              <a:spcAft>
                <a:spcPts val="300"/>
              </a:spcAft>
              <a:defRPr sz="1100">
                <a:solidFill>
                  <a:srgbClr val="CCCCCC"/>
                </a:solidFill>
                <a:latin typeface="Calibri"/>
              </a:defRPr>
            </a:pPr>
            <a:r>
              <a:t>standard statistical tests</a:t>
            </a:r>
          </a:p>
          <a:p>
            <a:pPr>
              <a:spcAft>
                <a:spcPts val="300"/>
              </a:spcAft>
              <a:defRPr sz="1100">
                <a:solidFill>
                  <a:srgbClr val="CCCCCC"/>
                </a:solidFill>
                <a:latin typeface="Calibri"/>
              </a:defRPr>
            </a:pPr>
            <a:r>
              <a:t>(t-test, correlation, etc.)</a:t>
            </a:r>
          </a:p>
          <a:p>
            <a:pPr>
              <a:spcAft>
                <a:spcPts val="300"/>
              </a:spcAft>
              <a:defRPr sz="1100">
                <a:solidFill>
                  <a:srgbClr val="CCCCCC"/>
                </a:solidFill>
                <a:latin typeface="Calibri"/>
              </a:defRPr>
            </a:pPr>
          </a:p>
          <a:p>
            <a:pPr>
              <a:spcAft>
                <a:spcPts val="300"/>
              </a:spcAft>
              <a:defRPr sz="1100">
                <a:solidFill>
                  <a:srgbClr val="CCCCCC"/>
                </a:solidFill>
                <a:latin typeface="Calibri"/>
              </a:defRPr>
            </a:pPr>
            <a:r>
              <a:t>For the 2 non-normal features,</a:t>
            </a:r>
          </a:p>
          <a:p>
            <a:pPr>
              <a:spcAft>
                <a:spcPts val="300"/>
              </a:spcAft>
              <a:defRPr sz="1100">
                <a:solidFill>
                  <a:srgbClr val="CCCCCC"/>
                </a:solidFill>
                <a:latin typeface="Calibri"/>
              </a:defRPr>
            </a:pPr>
            <a:r>
              <a:t>we use rank-based tests.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182880"/>
            <a:ext cx="10972800" cy="457200"/>
          </a:xfrm>
          <a:prstGeom prst="rect">
            <a:avLst/>
          </a:prstGeom>
          <a:noFill/>
        </p:spPr>
        <p:txBody>
          <a:bodyPr wrap="square">
            <a:spAutoFit/>
          </a:bodyPr>
          <a:lstStyle/>
          <a:p>
            <a:pPr algn="l">
              <a:defRPr sz="2800" b="1">
                <a:solidFill>
                  <a:srgbClr val="FFFFFF"/>
                </a:solidFill>
                <a:latin typeface="Calibri"/>
              </a:defRPr>
            </a:pPr>
            <a:r>
              <a:t>Which Features Actually Detect Fakes?</a:t>
            </a:r>
          </a:p>
        </p:txBody>
      </p:sp>
      <p:pic>
        <p:nvPicPr>
          <p:cNvPr id="3" name="Picture 2" descr="fig8_all36_auc_ranked.png"/>
          <p:cNvPicPr>
            <a:picLocks noChangeAspect="1"/>
          </p:cNvPicPr>
          <p:nvPr/>
        </p:nvPicPr>
        <p:blipFill>
          <a:blip r:embed="rId2"/>
          <a:stretch>
            <a:fillRect/>
          </a:stretch>
        </p:blipFill>
        <p:spPr>
          <a:xfrm>
            <a:off x="274320" y="640080"/>
            <a:ext cx="7315200" cy="5669280"/>
          </a:xfrm>
          <a:prstGeom prst="rect">
            <a:avLst/>
          </a:prstGeom>
        </p:spPr>
      </p:pic>
      <p:sp>
        <p:nvSpPr>
          <p:cNvPr id="4" name="TextBox 3"/>
          <p:cNvSpPr txBox="1"/>
          <p:nvPr/>
        </p:nvSpPr>
        <p:spPr>
          <a:xfrm>
            <a:off x="8046720" y="731520"/>
            <a:ext cx="3840480" cy="365760"/>
          </a:xfrm>
          <a:prstGeom prst="rect">
            <a:avLst/>
          </a:prstGeom>
          <a:noFill/>
        </p:spPr>
        <p:txBody>
          <a:bodyPr wrap="square">
            <a:spAutoFit/>
          </a:bodyPr>
          <a:lstStyle/>
          <a:p>
            <a:pPr algn="l">
              <a:defRPr sz="1800" b="1">
                <a:solidFill>
                  <a:srgbClr val="F39C12"/>
                </a:solidFill>
                <a:latin typeface="Calibri"/>
              </a:defRPr>
            </a:pPr>
            <a:r>
              <a:t>Reading This Chart</a:t>
            </a:r>
          </a:p>
        </p:txBody>
      </p:sp>
      <p:sp>
        <p:nvSpPr>
          <p:cNvPr id="5" name="TextBox 4"/>
          <p:cNvSpPr txBox="1"/>
          <p:nvPr/>
        </p:nvSpPr>
        <p:spPr>
          <a:xfrm>
            <a:off x="8046720" y="1188720"/>
            <a:ext cx="3840480" cy="5486400"/>
          </a:xfrm>
          <a:prstGeom prst="rect">
            <a:avLst/>
          </a:prstGeom>
          <a:noFill/>
        </p:spPr>
        <p:txBody>
          <a:bodyPr wrap="square">
            <a:spAutoFit/>
          </a:bodyPr>
          <a:lstStyle/>
          <a:p>
            <a:pPr>
              <a:spcAft>
                <a:spcPts val="300"/>
              </a:spcAft>
              <a:defRPr sz="1100">
                <a:solidFill>
                  <a:srgbClr val="CCCCCC"/>
                </a:solidFill>
                <a:latin typeface="Calibri"/>
              </a:defRPr>
            </a:pPr>
            <a:r>
              <a:t>Each bar = one feature's ability</a:t>
            </a:r>
          </a:p>
          <a:p>
            <a:pPr>
              <a:spcAft>
                <a:spcPts val="300"/>
              </a:spcAft>
              <a:defRPr sz="1100">
                <a:solidFill>
                  <a:srgbClr val="CCCCCC"/>
                </a:solidFill>
                <a:latin typeface="Calibri"/>
              </a:defRPr>
            </a:pPr>
            <a:r>
              <a:t>to detect fakes (AUC score)</a:t>
            </a:r>
          </a:p>
          <a:p>
            <a:pPr>
              <a:spcAft>
                <a:spcPts val="300"/>
              </a:spcAft>
              <a:defRPr sz="1100">
                <a:solidFill>
                  <a:srgbClr val="CCCCCC"/>
                </a:solidFill>
                <a:latin typeface="Calibri"/>
              </a:defRPr>
            </a:pPr>
          </a:p>
          <a:p>
            <a:pPr>
              <a:spcAft>
                <a:spcPts val="300"/>
              </a:spcAft>
              <a:defRPr sz="1100">
                <a:solidFill>
                  <a:srgbClr val="CCCCCC"/>
                </a:solidFill>
                <a:latin typeface="Calibri"/>
              </a:defRPr>
            </a:pPr>
            <a:r>
              <a:t>AUC = 0.5 → coin flip (useless)</a:t>
            </a:r>
          </a:p>
          <a:p>
            <a:pPr>
              <a:spcAft>
                <a:spcPts val="300"/>
              </a:spcAft>
              <a:defRPr sz="1100">
                <a:solidFill>
                  <a:srgbClr val="CCCCCC"/>
                </a:solidFill>
                <a:latin typeface="Calibri"/>
              </a:defRPr>
            </a:pPr>
            <a:r>
              <a:t>AUC = 0.7 → okay (red dashed line)</a:t>
            </a:r>
          </a:p>
          <a:p>
            <a:pPr>
              <a:spcAft>
                <a:spcPts val="300"/>
              </a:spcAft>
              <a:defRPr sz="1100">
                <a:solidFill>
                  <a:srgbClr val="CCCCCC"/>
                </a:solidFill>
                <a:latin typeface="Calibri"/>
              </a:defRPr>
            </a:pPr>
            <a:r>
              <a:t>AUC = 0.85 → good</a:t>
            </a:r>
          </a:p>
          <a:p>
            <a:pPr>
              <a:spcAft>
                <a:spcPts val="300"/>
              </a:spcAft>
              <a:defRPr sz="1100">
                <a:solidFill>
                  <a:srgbClr val="CCCCCC"/>
                </a:solidFill>
                <a:latin typeface="Calibri"/>
              </a:defRPr>
            </a:pPr>
          </a:p>
          <a:p>
            <a:pPr>
              <a:spcAft>
                <a:spcPts val="300"/>
              </a:spcAft>
              <a:defRPr sz="1100">
                <a:solidFill>
                  <a:srgbClr val="CCCCCC"/>
                </a:solidFill>
                <a:latin typeface="Calibri"/>
              </a:defRPr>
            </a:pPr>
            <a:r>
              <a:t>Color = feature group:</a:t>
            </a:r>
          </a:p>
          <a:p>
            <a:pPr>
              <a:spcAft>
                <a:spcPts val="300"/>
              </a:spcAft>
              <a:defRPr sz="1100">
                <a:solidFill>
                  <a:srgbClr val="CCCCCC"/>
                </a:solidFill>
                <a:latin typeface="Calibri"/>
              </a:defRPr>
            </a:pPr>
            <a:r>
              <a:t>  • Green = Formants</a:t>
            </a:r>
          </a:p>
          <a:p>
            <a:pPr>
              <a:spcAft>
                <a:spcPts val="300"/>
              </a:spcAft>
              <a:defRPr sz="1100">
                <a:solidFill>
                  <a:srgbClr val="CCCCCC"/>
                </a:solidFill>
                <a:latin typeface="Calibri"/>
              </a:defRPr>
            </a:pPr>
            <a:r>
              <a:t>  • Purple = Prosody</a:t>
            </a:r>
          </a:p>
          <a:p>
            <a:pPr>
              <a:spcAft>
                <a:spcPts val="300"/>
              </a:spcAft>
              <a:defRPr sz="1100">
                <a:solidFill>
                  <a:srgbClr val="CCCCCC"/>
                </a:solidFill>
                <a:latin typeface="Calibri"/>
              </a:defRPr>
            </a:pPr>
            <a:r>
              <a:t>  • Blue = PNCC</a:t>
            </a:r>
          </a:p>
          <a:p>
            <a:pPr>
              <a:spcAft>
                <a:spcPts val="300"/>
              </a:spcAft>
              <a:defRPr sz="1100">
                <a:solidFill>
                  <a:srgbClr val="CCCCCC"/>
                </a:solidFill>
                <a:latin typeface="Calibri"/>
              </a:defRPr>
            </a:pPr>
            <a:r>
              <a:t>  • Orange = LFCC</a:t>
            </a:r>
          </a:p>
          <a:p>
            <a:pPr>
              <a:spcAft>
                <a:spcPts val="300"/>
              </a:spcAft>
              <a:defRPr sz="1100">
                <a:solidFill>
                  <a:srgbClr val="CCCCCC"/>
                </a:solidFill>
                <a:latin typeface="Calibri"/>
              </a:defRPr>
            </a:pPr>
          </a:p>
          <a:p>
            <a:pPr>
              <a:spcAft>
                <a:spcPts val="300"/>
              </a:spcAft>
              <a:defRPr sz="1100">
                <a:solidFill>
                  <a:srgbClr val="CCCCCC"/>
                </a:solidFill>
                <a:latin typeface="Calibri"/>
              </a:defRPr>
            </a:pPr>
            <a:r>
              <a:t>Only 4 features cross the</a:t>
            </a:r>
          </a:p>
          <a:p>
            <a:pPr>
              <a:spcAft>
                <a:spcPts val="300"/>
              </a:spcAft>
              <a:defRPr sz="1100">
                <a:solidFill>
                  <a:srgbClr val="CCCCCC"/>
                </a:solidFill>
                <a:latin typeface="Calibri"/>
              </a:defRPr>
            </a:pPr>
            <a:r>
              <a:t>0.7 threshold — ALL are</a:t>
            </a:r>
          </a:p>
          <a:p>
            <a:pPr>
              <a:spcAft>
                <a:spcPts val="300"/>
              </a:spcAft>
              <a:defRPr sz="1100">
                <a:solidFill>
                  <a:srgbClr val="CCCCCC"/>
                </a:solidFill>
                <a:latin typeface="Calibri"/>
              </a:defRPr>
            </a:pPr>
            <a:r>
              <a:t>formant features (green).</a:t>
            </a:r>
          </a:p>
          <a:p>
            <a:pPr>
              <a:spcAft>
                <a:spcPts val="300"/>
              </a:spcAft>
              <a:defRPr sz="1100">
                <a:solidFill>
                  <a:srgbClr val="CCCCCC"/>
                </a:solidFill>
                <a:latin typeface="Calibri"/>
              </a:defRPr>
            </a:pPr>
          </a:p>
          <a:p>
            <a:pPr>
              <a:spcAft>
                <a:spcPts val="300"/>
              </a:spcAft>
              <a:defRPr sz="1100">
                <a:solidFill>
                  <a:srgbClr val="CCCCCC"/>
                </a:solidFill>
                <a:latin typeface="Calibri"/>
              </a:defRPr>
            </a:pPr>
            <a:r>
              <a:t>PNCC (blue) clusters near 0.5</a:t>
            </a:r>
          </a:p>
          <a:p>
            <a:pPr>
              <a:spcAft>
                <a:spcPts val="300"/>
              </a:spcAft>
              <a:defRPr sz="1100">
                <a:solidFill>
                  <a:srgbClr val="CCCCCC"/>
                </a:solidFill>
                <a:latin typeface="Calibri"/>
              </a:defRPr>
            </a:pPr>
            <a:r>
              <a:t>→ can't detect fakes at all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274320"/>
            <a:ext cx="10972800" cy="457200"/>
          </a:xfrm>
          <a:prstGeom prst="rect">
            <a:avLst/>
          </a:prstGeom>
          <a:noFill/>
        </p:spPr>
        <p:txBody>
          <a:bodyPr wrap="square">
            <a:spAutoFit/>
          </a:bodyPr>
          <a:lstStyle/>
          <a:p>
            <a:pPr algn="l">
              <a:defRPr sz="2800" b="1">
                <a:solidFill>
                  <a:srgbClr val="2C3E50"/>
                </a:solidFill>
                <a:latin typeface="Calibri"/>
              </a:defRPr>
            </a:pPr>
            <a:r>
              <a:t>How Much Do Codecs Change Each Feature?</a:t>
            </a:r>
          </a:p>
        </p:txBody>
      </p:sp>
      <p:sp>
        <p:nvSpPr>
          <p:cNvPr id="3" name="TextBox 2"/>
          <p:cNvSpPr txBox="1"/>
          <p:nvPr/>
        </p:nvSpPr>
        <p:spPr>
          <a:xfrm>
            <a:off x="731520" y="777240"/>
            <a:ext cx="10972800" cy="365760"/>
          </a:xfrm>
          <a:prstGeom prst="rect">
            <a:avLst/>
          </a:prstGeom>
          <a:noFill/>
        </p:spPr>
        <p:txBody>
          <a:bodyPr wrap="square">
            <a:spAutoFit/>
          </a:bodyPr>
          <a:lstStyle/>
          <a:p>
            <a:pPr algn="l">
              <a:defRPr sz="1400" b="0">
                <a:solidFill>
                  <a:srgbClr val="2C3E50"/>
                </a:solidFill>
                <a:latin typeface="Calibri"/>
              </a:defRPr>
            </a:pPr>
            <a:r>
              <a:t>Same file compressed through 9 codecs — how much does the feature value change?</a:t>
            </a:r>
          </a:p>
        </p:txBody>
      </p:sp>
      <p:graphicFrame>
        <p:nvGraphicFramePr>
          <p:cNvPr id="4" name="Table 3"/>
          <p:cNvGraphicFramePr>
            <a:graphicFrameLocks noGrp="1"/>
          </p:cNvGraphicFramePr>
          <p:nvPr/>
        </p:nvGraphicFramePr>
        <p:xfrm>
          <a:off x="457200" y="1371600"/>
          <a:ext cx="9144000" cy="2011680"/>
        </p:xfrm>
        <a:graphic>
          <a:graphicData uri="http://schemas.openxmlformats.org/drawingml/2006/table">
            <a:tbl>
              <a:tblPr firstRow="1" bandRow="1">
                <a:tableStyleId>{5C22544A-7EE6-4342-B048-85BDC9FD1C3A}</a:tableStyleId>
              </a:tblPr>
              <a:tblGrid>
                <a:gridCol w="2286000"/>
                <a:gridCol w="1097280"/>
                <a:gridCol w="1188720"/>
                <a:gridCol w="1371600"/>
                <a:gridCol w="1371600"/>
                <a:gridCol w="1828800"/>
              </a:tblGrid>
              <a:tr h="402336">
                <a:tc>
                  <a:txBody>
                    <a:bodyPr/>
                    <a:lstStyle/>
                    <a:p>
                      <a:pPr algn="ctr">
                        <a:defRPr sz="1400" b="1">
                          <a:solidFill>
                            <a:srgbClr val="FFFFFF"/>
                          </a:solidFill>
                          <a:latin typeface="Calibri"/>
                        </a:defRPr>
                      </a:pPr>
                      <a:r>
                        <a:t>Feature Group</a:t>
                      </a:r>
                    </a:p>
                  </a:txBody>
                  <a:tcPr>
                    <a:solidFill>
                      <a:srgbClr val="1A1A2E"/>
                    </a:solidFill>
                  </a:tcPr>
                </a:tc>
                <a:tc>
                  <a:txBody>
                    <a:bodyPr/>
                    <a:lstStyle/>
                    <a:p>
                      <a:pPr algn="ctr">
                        <a:defRPr sz="1400" b="1">
                          <a:solidFill>
                            <a:srgbClr val="FFFFFF"/>
                          </a:solidFill>
                          <a:latin typeface="Calibri"/>
                        </a:defRPr>
                      </a:pPr>
                      <a:r>
                        <a:t># Features</a:t>
                      </a:r>
                    </a:p>
                  </a:txBody>
                  <a:tcPr>
                    <a:solidFill>
                      <a:srgbClr val="1A1A2E"/>
                    </a:solidFill>
                  </a:tcPr>
                </a:tc>
                <a:tc>
                  <a:txBody>
                    <a:bodyPr/>
                    <a:lstStyle/>
                    <a:p>
                      <a:pPr algn="ctr">
                        <a:defRPr sz="1400" b="1">
                          <a:solidFill>
                            <a:srgbClr val="FFFFFF"/>
                          </a:solidFill>
                          <a:latin typeface="Calibri"/>
                        </a:defRPr>
                      </a:pPr>
                      <a:r>
                        <a:t>Avg Change</a:t>
                      </a:r>
                    </a:p>
                  </a:txBody>
                  <a:tcPr>
                    <a:solidFill>
                      <a:srgbClr val="1A1A2E"/>
                    </a:solidFill>
                  </a:tcPr>
                </a:tc>
                <a:tc>
                  <a:txBody>
                    <a:bodyPr/>
                    <a:lstStyle/>
                    <a:p>
                      <a:pPr algn="ctr">
                        <a:defRPr sz="1400" b="1">
                          <a:solidFill>
                            <a:srgbClr val="FFFFFF"/>
                          </a:solidFill>
                          <a:latin typeface="Calibri"/>
                        </a:defRPr>
                      </a:pPr>
                      <a:r>
                        <a:t>Worst Change</a:t>
                      </a:r>
                    </a:p>
                  </a:txBody>
                  <a:tcPr>
                    <a:solidFill>
                      <a:srgbClr val="1A1A2E"/>
                    </a:solidFill>
                  </a:tcPr>
                </a:tc>
                <a:tc>
                  <a:txBody>
                    <a:bodyPr/>
                    <a:lstStyle/>
                    <a:p>
                      <a:pPr algn="ctr">
                        <a:defRPr sz="1400" b="1">
                          <a:solidFill>
                            <a:srgbClr val="FFFFFF"/>
                          </a:solidFill>
                          <a:latin typeface="Calibri"/>
                        </a:defRPr>
                      </a:pPr>
                      <a:r>
                        <a:t>Worst Codec</a:t>
                      </a:r>
                    </a:p>
                  </a:txBody>
                  <a:tcPr>
                    <a:solidFill>
                      <a:srgbClr val="1A1A2E"/>
                    </a:solidFill>
                  </a:tcPr>
                </a:tc>
                <a:tc>
                  <a:txBody>
                    <a:bodyPr/>
                    <a:lstStyle/>
                    <a:p>
                      <a:pPr algn="ctr">
                        <a:defRPr sz="1400" b="1">
                          <a:solidFill>
                            <a:srgbClr val="FFFFFF"/>
                          </a:solidFill>
                          <a:latin typeface="Calibri"/>
                        </a:defRPr>
                      </a:pPr>
                      <a:r>
                        <a:t>Verdict</a:t>
                      </a:r>
                    </a:p>
                  </a:txBody>
                  <a:tcPr>
                    <a:solidFill>
                      <a:srgbClr val="1A1A2E"/>
                    </a:solidFill>
                  </a:tcPr>
                </a:tc>
              </a:tr>
              <a:tr h="402336">
                <a:tc>
                  <a:txBody>
                    <a:bodyPr/>
                    <a:lstStyle/>
                    <a:p>
                      <a:pPr algn="ctr">
                        <a:defRPr sz="1400">
                          <a:solidFill>
                            <a:srgbClr val="1B5E20"/>
                          </a:solidFill>
                          <a:latin typeface="Calibri"/>
                        </a:defRPr>
                      </a:pPr>
                      <a:r>
                        <a:t>Prosody</a:t>
                      </a:r>
                    </a:p>
                  </a:txBody>
                  <a:tcPr>
                    <a:solidFill>
                      <a:srgbClr val="E8F5E9"/>
                    </a:solidFill>
                  </a:tcPr>
                </a:tc>
                <a:tc>
                  <a:txBody>
                    <a:bodyPr/>
                    <a:lstStyle/>
                    <a:p>
                      <a:pPr algn="ctr">
                        <a:defRPr sz="1400">
                          <a:solidFill>
                            <a:srgbClr val="1B5E20"/>
                          </a:solidFill>
                          <a:latin typeface="Calibri"/>
                        </a:defRPr>
                      </a:pPr>
                      <a:r>
                        <a:t>7</a:t>
                      </a:r>
                    </a:p>
                  </a:txBody>
                  <a:tcPr>
                    <a:solidFill>
                      <a:srgbClr val="E8F5E9"/>
                    </a:solidFill>
                  </a:tcPr>
                </a:tc>
                <a:tc>
                  <a:txBody>
                    <a:bodyPr/>
                    <a:lstStyle/>
                    <a:p>
                      <a:pPr algn="ctr">
                        <a:defRPr sz="1400">
                          <a:solidFill>
                            <a:srgbClr val="1B5E20"/>
                          </a:solidFill>
                          <a:latin typeface="Calibri"/>
                        </a:defRPr>
                      </a:pPr>
                      <a:r>
                        <a:t>3%</a:t>
                      </a:r>
                    </a:p>
                  </a:txBody>
                  <a:tcPr>
                    <a:solidFill>
                      <a:srgbClr val="E8F5E9"/>
                    </a:solidFill>
                  </a:tcPr>
                </a:tc>
                <a:tc>
                  <a:txBody>
                    <a:bodyPr/>
                    <a:lstStyle/>
                    <a:p>
                      <a:pPr algn="ctr">
                        <a:defRPr sz="1400">
                          <a:solidFill>
                            <a:srgbClr val="1B5E20"/>
                          </a:solidFill>
                          <a:latin typeface="Calibri"/>
                        </a:defRPr>
                      </a:pPr>
                      <a:r>
                        <a:t>8%</a:t>
                      </a:r>
                    </a:p>
                  </a:txBody>
                  <a:tcPr>
                    <a:solidFill>
                      <a:srgbClr val="E8F5E9"/>
                    </a:solidFill>
                  </a:tcPr>
                </a:tc>
                <a:tc>
                  <a:txBody>
                    <a:bodyPr/>
                    <a:lstStyle/>
                    <a:p>
                      <a:pPr algn="ctr">
                        <a:defRPr sz="1400">
                          <a:solidFill>
                            <a:srgbClr val="1B5E20"/>
                          </a:solidFill>
                          <a:latin typeface="Calibri"/>
                        </a:defRPr>
                      </a:pPr>
                      <a:r>
                        <a:t>G.711</a:t>
                      </a:r>
                    </a:p>
                  </a:txBody>
                  <a:tcPr>
                    <a:solidFill>
                      <a:srgbClr val="E8F5E9"/>
                    </a:solidFill>
                  </a:tcPr>
                </a:tc>
                <a:tc>
                  <a:txBody>
                    <a:bodyPr/>
                    <a:lstStyle/>
                    <a:p>
                      <a:pPr algn="ctr">
                        <a:defRPr sz="1400">
                          <a:solidFill>
                            <a:srgbClr val="1B5E20"/>
                          </a:solidFill>
                          <a:latin typeface="Calibri"/>
                        </a:defRPr>
                      </a:pPr>
                      <a:r>
                        <a:t>VERY STABLE</a:t>
                      </a:r>
                    </a:p>
                  </a:txBody>
                  <a:tcPr>
                    <a:solidFill>
                      <a:srgbClr val="E8F5E9"/>
                    </a:solidFill>
                  </a:tcPr>
                </a:tc>
              </a:tr>
              <a:tr h="402336">
                <a:tc>
                  <a:txBody>
                    <a:bodyPr/>
                    <a:lstStyle/>
                    <a:p>
                      <a:pPr algn="ctr">
                        <a:defRPr sz="1400">
                          <a:solidFill>
                            <a:srgbClr val="1B5E20"/>
                          </a:solidFill>
                          <a:latin typeface="Calibri"/>
                        </a:defRPr>
                      </a:pPr>
                      <a:r>
                        <a:t>Formants</a:t>
                      </a:r>
                    </a:p>
                  </a:txBody>
                  <a:tcPr>
                    <a:solidFill>
                      <a:srgbClr val="E8F5E9"/>
                    </a:solidFill>
                  </a:tcPr>
                </a:tc>
                <a:tc>
                  <a:txBody>
                    <a:bodyPr/>
                    <a:lstStyle/>
                    <a:p>
                      <a:pPr algn="ctr">
                        <a:defRPr sz="1400">
                          <a:solidFill>
                            <a:srgbClr val="1B5E20"/>
                          </a:solidFill>
                          <a:latin typeface="Calibri"/>
                        </a:defRPr>
                      </a:pPr>
                      <a:r>
                        <a:t>8</a:t>
                      </a:r>
                    </a:p>
                  </a:txBody>
                  <a:tcPr>
                    <a:solidFill>
                      <a:srgbClr val="E8F5E9"/>
                    </a:solidFill>
                  </a:tcPr>
                </a:tc>
                <a:tc>
                  <a:txBody>
                    <a:bodyPr/>
                    <a:lstStyle/>
                    <a:p>
                      <a:pPr algn="ctr">
                        <a:defRPr sz="1400">
                          <a:solidFill>
                            <a:srgbClr val="1B5E20"/>
                          </a:solidFill>
                          <a:latin typeface="Calibri"/>
                        </a:defRPr>
                      </a:pPr>
                      <a:r>
                        <a:t>6%</a:t>
                      </a:r>
                    </a:p>
                  </a:txBody>
                  <a:tcPr>
                    <a:solidFill>
                      <a:srgbClr val="E8F5E9"/>
                    </a:solidFill>
                  </a:tcPr>
                </a:tc>
                <a:tc>
                  <a:txBody>
                    <a:bodyPr/>
                    <a:lstStyle/>
                    <a:p>
                      <a:pPr algn="ctr">
                        <a:defRPr sz="1400">
                          <a:solidFill>
                            <a:srgbClr val="1B5E20"/>
                          </a:solidFill>
                          <a:latin typeface="Calibri"/>
                        </a:defRPr>
                      </a:pPr>
                      <a:r>
                        <a:t>18%</a:t>
                      </a:r>
                    </a:p>
                  </a:txBody>
                  <a:tcPr>
                    <a:solidFill>
                      <a:srgbClr val="E8F5E9"/>
                    </a:solidFill>
                  </a:tcPr>
                </a:tc>
                <a:tc>
                  <a:txBody>
                    <a:bodyPr/>
                    <a:lstStyle/>
                    <a:p>
                      <a:pPr algn="ctr">
                        <a:defRPr sz="1400">
                          <a:solidFill>
                            <a:srgbClr val="1B5E20"/>
                          </a:solidFill>
                          <a:latin typeface="Calibri"/>
                        </a:defRPr>
                      </a:pPr>
                      <a:r>
                        <a:t>G.711</a:t>
                      </a:r>
                    </a:p>
                  </a:txBody>
                  <a:tcPr>
                    <a:solidFill>
                      <a:srgbClr val="E8F5E9"/>
                    </a:solidFill>
                  </a:tcPr>
                </a:tc>
                <a:tc>
                  <a:txBody>
                    <a:bodyPr/>
                    <a:lstStyle/>
                    <a:p>
                      <a:pPr algn="ctr">
                        <a:defRPr sz="1400">
                          <a:solidFill>
                            <a:srgbClr val="1B5E20"/>
                          </a:solidFill>
                          <a:latin typeface="Calibri"/>
                        </a:defRPr>
                      </a:pPr>
                      <a:r>
                        <a:t>STABLE</a:t>
                      </a:r>
                    </a:p>
                  </a:txBody>
                  <a:tcPr>
                    <a:solidFill>
                      <a:srgbClr val="E8F5E9"/>
                    </a:solidFill>
                  </a:tcPr>
                </a:tc>
              </a:tr>
              <a:tr h="402336">
                <a:tc>
                  <a:txBody>
                    <a:bodyPr/>
                    <a:lstStyle/>
                    <a:p>
                      <a:pPr algn="ctr">
                        <a:defRPr sz="1400">
                          <a:solidFill>
                            <a:srgbClr val="2C3E50"/>
                          </a:solidFill>
                          <a:latin typeface="Calibri"/>
                        </a:defRPr>
                      </a:pPr>
                      <a:r>
                        <a:t>PNCC</a:t>
                      </a:r>
                    </a:p>
                  </a:txBody>
                  <a:tcPr/>
                </a:tc>
                <a:tc>
                  <a:txBody>
                    <a:bodyPr/>
                    <a:lstStyle/>
                    <a:p>
                      <a:pPr algn="ctr">
                        <a:defRPr sz="1400">
                          <a:solidFill>
                            <a:srgbClr val="2C3E50"/>
                          </a:solidFill>
                          <a:latin typeface="Calibri"/>
                        </a:defRPr>
                      </a:pPr>
                      <a:r>
                        <a:t>13</a:t>
                      </a:r>
                    </a:p>
                  </a:txBody>
                  <a:tcPr/>
                </a:tc>
                <a:tc>
                  <a:txBody>
                    <a:bodyPr/>
                    <a:lstStyle/>
                    <a:p>
                      <a:pPr algn="ctr">
                        <a:defRPr sz="1400">
                          <a:solidFill>
                            <a:srgbClr val="2C3E50"/>
                          </a:solidFill>
                          <a:latin typeface="Calibri"/>
                        </a:defRPr>
                      </a:pPr>
                      <a:r>
                        <a:t>6%</a:t>
                      </a:r>
                    </a:p>
                  </a:txBody>
                  <a:tcPr/>
                </a:tc>
                <a:tc>
                  <a:txBody>
                    <a:bodyPr/>
                    <a:lstStyle/>
                    <a:p>
                      <a:pPr algn="ctr">
                        <a:defRPr sz="1400">
                          <a:solidFill>
                            <a:srgbClr val="2C3E50"/>
                          </a:solidFill>
                          <a:latin typeface="Calibri"/>
                        </a:defRPr>
                      </a:pPr>
                      <a:r>
                        <a:t>22%</a:t>
                      </a:r>
                    </a:p>
                  </a:txBody>
                  <a:tcPr/>
                </a:tc>
                <a:tc>
                  <a:txBody>
                    <a:bodyPr/>
                    <a:lstStyle/>
                    <a:p>
                      <a:pPr algn="ctr">
                        <a:defRPr sz="1400">
                          <a:solidFill>
                            <a:srgbClr val="2C3E50"/>
                          </a:solidFill>
                          <a:latin typeface="Calibri"/>
                        </a:defRPr>
                      </a:pPr>
                      <a:r>
                        <a:t>G.711</a:t>
                      </a:r>
                    </a:p>
                  </a:txBody>
                  <a:tcPr/>
                </a:tc>
                <a:tc>
                  <a:txBody>
                    <a:bodyPr/>
                    <a:lstStyle/>
                    <a:p>
                      <a:pPr algn="ctr">
                        <a:defRPr sz="1400">
                          <a:solidFill>
                            <a:srgbClr val="2C3E50"/>
                          </a:solidFill>
                          <a:latin typeface="Calibri"/>
                        </a:defRPr>
                      </a:pPr>
                      <a:r>
                        <a:t>MODERATE</a:t>
                      </a:r>
                    </a:p>
                  </a:txBody>
                  <a:tcPr/>
                </a:tc>
              </a:tr>
              <a:tr h="402336">
                <a:tc>
                  <a:txBody>
                    <a:bodyPr/>
                    <a:lstStyle/>
                    <a:p>
                      <a:pPr algn="ctr">
                        <a:defRPr sz="1400">
                          <a:solidFill>
                            <a:srgbClr val="E74C3C"/>
                          </a:solidFill>
                          <a:latin typeface="Calibri"/>
                        </a:defRPr>
                      </a:pPr>
                      <a:r>
                        <a:t>LFCC</a:t>
                      </a:r>
                    </a:p>
                  </a:txBody>
                  <a:tcPr>
                    <a:solidFill>
                      <a:srgbClr val="FFEBEE"/>
                    </a:solidFill>
                  </a:tcPr>
                </a:tc>
                <a:tc>
                  <a:txBody>
                    <a:bodyPr/>
                    <a:lstStyle/>
                    <a:p>
                      <a:pPr algn="ctr">
                        <a:defRPr sz="1400">
                          <a:solidFill>
                            <a:srgbClr val="E74C3C"/>
                          </a:solidFill>
                          <a:latin typeface="Calibri"/>
                        </a:defRPr>
                      </a:pPr>
                      <a:r>
                        <a:t>8</a:t>
                      </a:r>
                    </a:p>
                  </a:txBody>
                  <a:tcPr>
                    <a:solidFill>
                      <a:srgbClr val="FFEBEE"/>
                    </a:solidFill>
                  </a:tcPr>
                </a:tc>
                <a:tc>
                  <a:txBody>
                    <a:bodyPr/>
                    <a:lstStyle/>
                    <a:p>
                      <a:pPr algn="ctr">
                        <a:defRPr sz="1400">
                          <a:solidFill>
                            <a:srgbClr val="E74C3C"/>
                          </a:solidFill>
                          <a:latin typeface="Calibri"/>
                        </a:defRPr>
                      </a:pPr>
                      <a:r>
                        <a:t>39%</a:t>
                      </a:r>
                    </a:p>
                  </a:txBody>
                  <a:tcPr>
                    <a:solidFill>
                      <a:srgbClr val="FFEBEE"/>
                    </a:solidFill>
                  </a:tcPr>
                </a:tc>
                <a:tc>
                  <a:txBody>
                    <a:bodyPr/>
                    <a:lstStyle/>
                    <a:p>
                      <a:pPr algn="ctr">
                        <a:defRPr sz="1400">
                          <a:solidFill>
                            <a:srgbClr val="E74C3C"/>
                          </a:solidFill>
                          <a:latin typeface="Calibri"/>
                        </a:defRPr>
                      </a:pPr>
                      <a:r>
                        <a:t>120%</a:t>
                      </a:r>
                    </a:p>
                  </a:txBody>
                  <a:tcPr>
                    <a:solidFill>
                      <a:srgbClr val="FFEBEE"/>
                    </a:solidFill>
                  </a:tcPr>
                </a:tc>
                <a:tc>
                  <a:txBody>
                    <a:bodyPr/>
                    <a:lstStyle/>
                    <a:p>
                      <a:pPr algn="ctr">
                        <a:defRPr sz="1400">
                          <a:solidFill>
                            <a:srgbClr val="E74C3C"/>
                          </a:solidFill>
                          <a:latin typeface="Calibri"/>
                        </a:defRPr>
                      </a:pPr>
                      <a:r>
                        <a:t>G.711</a:t>
                      </a:r>
                    </a:p>
                  </a:txBody>
                  <a:tcPr>
                    <a:solidFill>
                      <a:srgbClr val="FFEBEE"/>
                    </a:solidFill>
                  </a:tcPr>
                </a:tc>
                <a:tc>
                  <a:txBody>
                    <a:bodyPr/>
                    <a:lstStyle/>
                    <a:p>
                      <a:pPr algn="ctr">
                        <a:defRPr sz="1400">
                          <a:solidFill>
                            <a:srgbClr val="E74C3C"/>
                          </a:solidFill>
                          <a:latin typeface="Calibri"/>
                        </a:defRPr>
                      </a:pPr>
                      <a:r>
                        <a:t>FRAGILE</a:t>
                      </a:r>
                    </a:p>
                  </a:txBody>
                  <a:tcPr>
                    <a:solidFill>
                      <a:srgbClr val="FFEBEE"/>
                    </a:solidFill>
                  </a:tcPr>
                </a:tc>
              </a:tr>
            </a:tbl>
          </a:graphicData>
        </a:graphic>
      </p:graphicFrame>
      <p:sp>
        <p:nvSpPr>
          <p:cNvPr id="5" name="TextBox 4"/>
          <p:cNvSpPr txBox="1"/>
          <p:nvPr/>
        </p:nvSpPr>
        <p:spPr>
          <a:xfrm>
            <a:off x="457200" y="3566160"/>
            <a:ext cx="10972800" cy="274320"/>
          </a:xfrm>
          <a:prstGeom prst="rect">
            <a:avLst/>
          </a:prstGeom>
          <a:noFill/>
        </p:spPr>
        <p:txBody>
          <a:bodyPr wrap="square">
            <a:spAutoFit/>
          </a:bodyPr>
          <a:lstStyle/>
          <a:p>
            <a:pPr algn="l">
              <a:defRPr sz="1200" b="0">
                <a:solidFill>
                  <a:srgbClr val="666666"/>
                </a:solidFill>
                <a:latin typeface="Calibri"/>
              </a:defRPr>
            </a:pPr>
            <a:r>
              <a:t>Method: 150 files × 9 codecs. Compressed each file, re-extracted features, measured % change.</a:t>
            </a:r>
          </a:p>
        </p:txBody>
      </p:sp>
      <p:sp>
        <p:nvSpPr>
          <p:cNvPr id="6" name="Rounded Rectangle 5"/>
          <p:cNvSpPr/>
          <p:nvPr/>
        </p:nvSpPr>
        <p:spPr>
          <a:xfrm>
            <a:off x="457200" y="3931920"/>
            <a:ext cx="10972800" cy="2560320"/>
          </a:xfrm>
          <a:prstGeom prst="roundRect">
            <a:avLst/>
          </a:prstGeom>
          <a:solidFill>
            <a:srgbClr val="1A1A2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023360"/>
            <a:ext cx="10058400" cy="365760"/>
          </a:xfrm>
          <a:prstGeom prst="rect">
            <a:avLst/>
          </a:prstGeom>
          <a:noFill/>
        </p:spPr>
        <p:txBody>
          <a:bodyPr wrap="square">
            <a:spAutoFit/>
          </a:bodyPr>
          <a:lstStyle/>
          <a:p>
            <a:pPr algn="l">
              <a:defRPr sz="1800" b="1">
                <a:solidFill>
                  <a:srgbClr val="F39C12"/>
                </a:solidFill>
                <a:latin typeface="Calibri"/>
              </a:defRPr>
            </a:pPr>
            <a:r>
              <a:t>What This Means for Detection</a:t>
            </a:r>
          </a:p>
        </p:txBody>
      </p:sp>
      <p:sp>
        <p:nvSpPr>
          <p:cNvPr id="8" name="TextBox 7"/>
          <p:cNvSpPr txBox="1"/>
          <p:nvPr/>
        </p:nvSpPr>
        <p:spPr>
          <a:xfrm>
            <a:off x="731520" y="4480560"/>
            <a:ext cx="5029200" cy="1828800"/>
          </a:xfrm>
          <a:prstGeom prst="rect">
            <a:avLst/>
          </a:prstGeom>
          <a:noFill/>
        </p:spPr>
        <p:txBody>
          <a:bodyPr wrap="square">
            <a:spAutoFit/>
          </a:bodyPr>
          <a:lstStyle/>
          <a:p>
            <a:pPr>
              <a:spcAft>
                <a:spcPts val="300"/>
              </a:spcAft>
              <a:defRPr sz="1300">
                <a:solidFill>
                  <a:srgbClr val="CCCCCC"/>
                </a:solidFill>
                <a:latin typeface="Calibri"/>
              </a:defRPr>
            </a:pPr>
            <a:r>
              <a:t>• Formants change by only 6%</a:t>
            </a:r>
          </a:p>
          <a:p>
            <a:pPr>
              <a:spcAft>
                <a:spcPts val="300"/>
              </a:spcAft>
              <a:defRPr sz="1300">
                <a:solidFill>
                  <a:srgbClr val="CCCCCC"/>
                </a:solidFill>
                <a:latin typeface="Calibri"/>
              </a:defRPr>
            </a:pPr>
            <a:r>
              <a:t>  The 154 Hz real-vs-fake gap is much</a:t>
            </a:r>
          </a:p>
          <a:p>
            <a:pPr>
              <a:spcAft>
                <a:spcPts val="300"/>
              </a:spcAft>
              <a:defRPr sz="1300">
                <a:solidFill>
                  <a:srgbClr val="CCCCCC"/>
                </a:solidFill>
                <a:latin typeface="Calibri"/>
              </a:defRPr>
            </a:pPr>
            <a:r>
              <a:t>  larger than the 6% codec noise</a:t>
            </a:r>
          </a:p>
          <a:p>
            <a:pPr>
              <a:spcAft>
                <a:spcPts val="300"/>
              </a:spcAft>
              <a:defRPr sz="1300">
                <a:solidFill>
                  <a:srgbClr val="CCCCCC"/>
                </a:solidFill>
                <a:latin typeface="Calibri"/>
              </a:defRPr>
            </a:pPr>
            <a:r>
              <a:t>  → Signal survives compression</a:t>
            </a:r>
          </a:p>
          <a:p>
            <a:pPr>
              <a:spcAft>
                <a:spcPts val="300"/>
              </a:spcAft>
              <a:defRPr sz="1300">
                <a:solidFill>
                  <a:srgbClr val="CCCCCC"/>
                </a:solidFill>
                <a:latin typeface="Calibri"/>
              </a:defRPr>
            </a:pPr>
          </a:p>
          <a:p>
            <a:pPr>
              <a:spcAft>
                <a:spcPts val="300"/>
              </a:spcAft>
              <a:defRPr sz="1300">
                <a:solidFill>
                  <a:srgbClr val="CCCCCC"/>
                </a:solidFill>
                <a:latin typeface="Calibri"/>
              </a:defRPr>
            </a:pPr>
            <a:r>
              <a:t>• Prosody changes by only 3%</a:t>
            </a:r>
          </a:p>
          <a:p>
            <a:pPr>
              <a:spcAft>
                <a:spcPts val="300"/>
              </a:spcAft>
              <a:defRPr sz="1300">
                <a:solidFill>
                  <a:srgbClr val="CCCCCC"/>
                </a:solidFill>
                <a:latin typeface="Calibri"/>
              </a:defRPr>
            </a:pPr>
            <a:r>
              <a:t>  Codecs preserve pitch by design</a:t>
            </a:r>
          </a:p>
        </p:txBody>
      </p:sp>
      <p:sp>
        <p:nvSpPr>
          <p:cNvPr id="9" name="TextBox 8"/>
          <p:cNvSpPr txBox="1"/>
          <p:nvPr/>
        </p:nvSpPr>
        <p:spPr>
          <a:xfrm>
            <a:off x="6400800" y="4480560"/>
            <a:ext cx="5029200" cy="1828800"/>
          </a:xfrm>
          <a:prstGeom prst="rect">
            <a:avLst/>
          </a:prstGeom>
          <a:noFill/>
        </p:spPr>
        <p:txBody>
          <a:bodyPr wrap="square">
            <a:spAutoFit/>
          </a:bodyPr>
          <a:lstStyle/>
          <a:p>
            <a:pPr>
              <a:spcAft>
                <a:spcPts val="300"/>
              </a:spcAft>
              <a:defRPr sz="1300">
                <a:solidFill>
                  <a:srgbClr val="CCCCCC"/>
                </a:solidFill>
                <a:latin typeface="Calibri"/>
              </a:defRPr>
            </a:pPr>
            <a:r>
              <a:t>• LFCC changes by 39% (worst: 120%!)</a:t>
            </a:r>
          </a:p>
          <a:p>
            <a:pPr>
              <a:spcAft>
                <a:spcPts val="300"/>
              </a:spcAft>
              <a:defRPr sz="1300">
                <a:solidFill>
                  <a:srgbClr val="CCCCCC"/>
                </a:solidFill>
                <a:latin typeface="Calibri"/>
              </a:defRPr>
            </a:pPr>
            <a:r>
              <a:t>  Codecs sacrifice spectral detail</a:t>
            </a:r>
          </a:p>
          <a:p>
            <a:pPr>
              <a:spcAft>
                <a:spcPts val="300"/>
              </a:spcAft>
              <a:defRPr sz="1300">
                <a:solidFill>
                  <a:srgbClr val="CCCCCC"/>
                </a:solidFill>
                <a:latin typeface="Calibri"/>
              </a:defRPr>
            </a:pPr>
            <a:r>
              <a:t>  → Features become unreliable</a:t>
            </a:r>
          </a:p>
          <a:p>
            <a:pPr>
              <a:spcAft>
                <a:spcPts val="300"/>
              </a:spcAft>
              <a:defRPr sz="1300">
                <a:solidFill>
                  <a:srgbClr val="CCCCCC"/>
                </a:solidFill>
                <a:latin typeface="Calibri"/>
              </a:defRPr>
            </a:pPr>
          </a:p>
          <a:p>
            <a:pPr>
              <a:spcAft>
                <a:spcPts val="300"/>
              </a:spcAft>
              <a:defRPr sz="1300">
                <a:solidFill>
                  <a:srgbClr val="CCCCCC"/>
                </a:solidFill>
                <a:latin typeface="Calibri"/>
              </a:defRPr>
            </a:pPr>
            <a:r>
              <a:t>• A detector using LFCC features will</a:t>
            </a:r>
          </a:p>
          <a:p>
            <a:pPr>
              <a:spcAft>
                <a:spcPts val="300"/>
              </a:spcAft>
              <a:defRPr sz="1300">
                <a:solidFill>
                  <a:srgbClr val="CCCCCC"/>
                </a:solidFill>
                <a:latin typeface="Calibri"/>
              </a:defRPr>
            </a:pPr>
            <a:r>
              <a:t>  collapse when codecs are applied</a:t>
            </a:r>
          </a:p>
          <a:p>
            <a:pPr>
              <a:spcAft>
                <a:spcPts val="300"/>
              </a:spcAft>
              <a:defRPr sz="1300">
                <a:solidFill>
                  <a:srgbClr val="CCCCCC"/>
                </a:solidFill>
                <a:latin typeface="Calibri"/>
              </a:defRPr>
            </a:pPr>
            <a:r>
              <a:t>  (this is exactly what happened: 50% EER)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91440"/>
            <a:ext cx="10972800" cy="365760"/>
          </a:xfrm>
          <a:prstGeom prst="rect">
            <a:avLst/>
          </a:prstGeom>
          <a:noFill/>
        </p:spPr>
        <p:txBody>
          <a:bodyPr wrap="square">
            <a:spAutoFit/>
          </a:bodyPr>
          <a:lstStyle/>
          <a:p>
            <a:pPr algn="l">
              <a:defRPr sz="2800" b="1">
                <a:solidFill>
                  <a:srgbClr val="FFFFFF"/>
                </a:solidFill>
                <a:latin typeface="Calibri"/>
              </a:defRPr>
            </a:pPr>
            <a:r>
              <a:t>The 4 Winning Features: Real vs Fake</a:t>
            </a:r>
          </a:p>
        </p:txBody>
      </p:sp>
      <p:pic>
        <p:nvPicPr>
          <p:cNvPr id="3" name="Picture 2" descr="fig1_distributions.png"/>
          <p:cNvPicPr>
            <a:picLocks noChangeAspect="1"/>
          </p:cNvPicPr>
          <p:nvPr/>
        </p:nvPicPr>
        <p:blipFill>
          <a:blip r:embed="rId2"/>
          <a:stretch>
            <a:fillRect/>
          </a:stretch>
        </p:blipFill>
        <p:spPr>
          <a:xfrm>
            <a:off x="274320" y="548640"/>
            <a:ext cx="11430000" cy="5669280"/>
          </a:xfrm>
          <a:prstGeom prst="rect">
            <a:avLst/>
          </a:prstGeom>
        </p:spPr>
      </p:pic>
      <p:sp>
        <p:nvSpPr>
          <p:cNvPr id="4" name="Rounded Rectangle 3"/>
          <p:cNvSpPr/>
          <p:nvPr/>
        </p:nvSpPr>
        <p:spPr>
          <a:xfrm>
            <a:off x="914400" y="6309360"/>
            <a:ext cx="10058400" cy="457200"/>
          </a:xfrm>
          <a:prstGeom prst="roundRect">
            <a:avLst/>
          </a:prstGeom>
          <a:solidFill>
            <a:srgbClr val="0D47A1"/>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6327648"/>
            <a:ext cx="9601200" cy="365760"/>
          </a:xfrm>
          <a:prstGeom prst="rect">
            <a:avLst/>
          </a:prstGeom>
          <a:noFill/>
        </p:spPr>
        <p:txBody>
          <a:bodyPr wrap="square">
            <a:spAutoFit/>
          </a:bodyPr>
          <a:lstStyle/>
          <a:p>
            <a:pPr algn="ctr">
              <a:defRPr sz="1300" b="0">
                <a:solidFill>
                  <a:srgbClr val="FFFFFF"/>
                </a:solidFill>
                <a:latin typeface="Calibri"/>
              </a:defRPr>
            </a:pPr>
            <a:r>
              <a:t>Green = Real (wider, higher)  |  Red = Fake (narrower, lower)  |  Dashed = averages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274320"/>
            <a:ext cx="10972800" cy="457200"/>
          </a:xfrm>
          <a:prstGeom prst="rect">
            <a:avLst/>
          </a:prstGeom>
          <a:noFill/>
        </p:spPr>
        <p:txBody>
          <a:bodyPr wrap="square">
            <a:spAutoFit/>
          </a:bodyPr>
          <a:lstStyle/>
          <a:p>
            <a:pPr algn="l">
              <a:defRPr sz="3200" b="1">
                <a:solidFill>
                  <a:srgbClr val="FFFFFF"/>
                </a:solidFill>
                <a:latin typeface="Calibri"/>
              </a:defRPr>
            </a:pPr>
            <a:r>
              <a:t>Why Formants Detect Deepfakes</a:t>
            </a:r>
          </a:p>
        </p:txBody>
      </p:sp>
      <p:sp>
        <p:nvSpPr>
          <p:cNvPr id="3" name="TextBox 2"/>
          <p:cNvSpPr txBox="1"/>
          <p:nvPr/>
        </p:nvSpPr>
        <p:spPr>
          <a:xfrm>
            <a:off x="731520" y="914400"/>
            <a:ext cx="5029200" cy="365760"/>
          </a:xfrm>
          <a:prstGeom prst="rect">
            <a:avLst/>
          </a:prstGeom>
          <a:noFill/>
        </p:spPr>
        <p:txBody>
          <a:bodyPr wrap="square">
            <a:spAutoFit/>
          </a:bodyPr>
          <a:lstStyle/>
          <a:p>
            <a:pPr algn="l">
              <a:defRPr sz="2200" b="1">
                <a:solidFill>
                  <a:srgbClr val="2ECC71"/>
                </a:solidFill>
                <a:latin typeface="Calibri"/>
              </a:defRPr>
            </a:pPr>
            <a:r>
              <a:t>Real Speech</a:t>
            </a:r>
          </a:p>
        </p:txBody>
      </p:sp>
      <p:sp>
        <p:nvSpPr>
          <p:cNvPr id="4" name="TextBox 3"/>
          <p:cNvSpPr txBox="1"/>
          <p:nvPr/>
        </p:nvSpPr>
        <p:spPr>
          <a:xfrm>
            <a:off x="731520" y="1371600"/>
            <a:ext cx="5029200" cy="1828800"/>
          </a:xfrm>
          <a:prstGeom prst="rect">
            <a:avLst/>
          </a:prstGeom>
          <a:noFill/>
        </p:spPr>
        <p:txBody>
          <a:bodyPr wrap="square">
            <a:spAutoFit/>
          </a:bodyPr>
          <a:lstStyle/>
          <a:p>
            <a:pPr>
              <a:spcAft>
                <a:spcPts val="300"/>
              </a:spcAft>
              <a:defRPr sz="1400">
                <a:solidFill>
                  <a:srgbClr val="FFFFFF"/>
                </a:solidFill>
                <a:latin typeface="Calibri"/>
              </a:defRPr>
            </a:pPr>
            <a:r>
              <a:t>• Your mouth and throat form a tube</a:t>
            </a:r>
          </a:p>
          <a:p>
            <a:pPr>
              <a:spcAft>
                <a:spcPts val="300"/>
              </a:spcAft>
              <a:defRPr sz="1400">
                <a:solidFill>
                  <a:srgbClr val="FFFFFF"/>
                </a:solidFill>
                <a:latin typeface="Calibri"/>
              </a:defRPr>
            </a:pPr>
            <a:r>
              <a:t>• This tube has resonances (formants)</a:t>
            </a:r>
          </a:p>
          <a:p>
            <a:pPr>
              <a:spcAft>
                <a:spcPts val="300"/>
              </a:spcAft>
              <a:defRPr sz="1400">
                <a:solidFill>
                  <a:srgbClr val="FFFFFF"/>
                </a:solidFill>
                <a:latin typeface="Calibri"/>
              </a:defRPr>
            </a:pPr>
            <a:r>
              <a:t>• The tube absorbs energy → wide resonances</a:t>
            </a:r>
          </a:p>
          <a:p>
            <a:pPr>
              <a:spcAft>
                <a:spcPts val="300"/>
              </a:spcAft>
              <a:defRPr sz="1400">
                <a:solidFill>
                  <a:srgbClr val="FFFFFF"/>
                </a:solidFill>
                <a:latin typeface="Calibri"/>
              </a:defRPr>
            </a:pPr>
            <a:r>
              <a:t>• F1 bandwidth ≈ 515 Hz</a:t>
            </a:r>
          </a:p>
          <a:p>
            <a:pPr>
              <a:spcAft>
                <a:spcPts val="300"/>
              </a:spcAft>
              <a:defRPr sz="1400">
                <a:solidFill>
                  <a:srgbClr val="FFFFFF"/>
                </a:solidFill>
                <a:latin typeface="Calibri"/>
              </a:defRPr>
            </a:pPr>
            <a:r>
              <a:t>• Lots of natural variation</a:t>
            </a:r>
          </a:p>
        </p:txBody>
      </p:sp>
      <p:sp>
        <p:nvSpPr>
          <p:cNvPr id="5" name="TextBox 4"/>
          <p:cNvSpPr txBox="1"/>
          <p:nvPr/>
        </p:nvSpPr>
        <p:spPr>
          <a:xfrm>
            <a:off x="6400800" y="914400"/>
            <a:ext cx="5029200" cy="365760"/>
          </a:xfrm>
          <a:prstGeom prst="rect">
            <a:avLst/>
          </a:prstGeom>
          <a:noFill/>
        </p:spPr>
        <p:txBody>
          <a:bodyPr wrap="square">
            <a:spAutoFit/>
          </a:bodyPr>
          <a:lstStyle/>
          <a:p>
            <a:pPr algn="l">
              <a:defRPr sz="2200" b="1">
                <a:solidFill>
                  <a:srgbClr val="E74C3C"/>
                </a:solidFill>
                <a:latin typeface="Calibri"/>
              </a:defRPr>
            </a:pPr>
            <a:r>
              <a:t>Fake Speech</a:t>
            </a:r>
          </a:p>
        </p:txBody>
      </p:sp>
      <p:sp>
        <p:nvSpPr>
          <p:cNvPr id="6" name="TextBox 5"/>
          <p:cNvSpPr txBox="1"/>
          <p:nvPr/>
        </p:nvSpPr>
        <p:spPr>
          <a:xfrm>
            <a:off x="6400800" y="1371600"/>
            <a:ext cx="5029200" cy="1828800"/>
          </a:xfrm>
          <a:prstGeom prst="rect">
            <a:avLst/>
          </a:prstGeom>
          <a:noFill/>
        </p:spPr>
        <p:txBody>
          <a:bodyPr wrap="square">
            <a:spAutoFit/>
          </a:bodyPr>
          <a:lstStyle/>
          <a:p>
            <a:pPr>
              <a:spcAft>
                <a:spcPts val="300"/>
              </a:spcAft>
              <a:defRPr sz="1400">
                <a:solidFill>
                  <a:srgbClr val="FFFFFF"/>
                </a:solidFill>
                <a:latin typeface="Calibri"/>
              </a:defRPr>
            </a:pPr>
            <a:r>
              <a:t>• A neural network generates the sound</a:t>
            </a:r>
          </a:p>
          <a:p>
            <a:pPr>
              <a:spcAft>
                <a:spcPts val="300"/>
              </a:spcAft>
              <a:defRPr sz="1400">
                <a:solidFill>
                  <a:srgbClr val="FFFFFF"/>
                </a:solidFill>
                <a:latin typeface="Calibri"/>
              </a:defRPr>
            </a:pPr>
            <a:r>
              <a:t>• It optimizes for average spectral shape</a:t>
            </a:r>
          </a:p>
          <a:p>
            <a:pPr>
              <a:spcAft>
                <a:spcPts val="300"/>
              </a:spcAft>
              <a:defRPr sz="1400">
                <a:solidFill>
                  <a:srgbClr val="FFFFFF"/>
                </a:solidFill>
                <a:latin typeface="Calibri"/>
              </a:defRPr>
            </a:pPr>
            <a:r>
              <a:t>• No physical damping → sharp resonances</a:t>
            </a:r>
          </a:p>
          <a:p>
            <a:pPr>
              <a:spcAft>
                <a:spcPts val="300"/>
              </a:spcAft>
              <a:defRPr sz="1400">
                <a:solidFill>
                  <a:srgbClr val="FFFFFF"/>
                </a:solidFill>
                <a:latin typeface="Calibri"/>
              </a:defRPr>
            </a:pPr>
            <a:r>
              <a:t>• F1 bandwidth ≈ 361 Hz (154 Hz narrower)</a:t>
            </a:r>
          </a:p>
          <a:p>
            <a:pPr>
              <a:spcAft>
                <a:spcPts val="300"/>
              </a:spcAft>
              <a:defRPr sz="1400">
                <a:solidFill>
                  <a:srgbClr val="FFFFFF"/>
                </a:solidFill>
                <a:latin typeface="Calibri"/>
              </a:defRPr>
            </a:pPr>
            <a:r>
              <a:t>• Less variation (over-smoothed)</a:t>
            </a:r>
          </a:p>
        </p:txBody>
      </p:sp>
      <p:sp>
        <p:nvSpPr>
          <p:cNvPr id="7" name="Rounded Rectangle 6"/>
          <p:cNvSpPr/>
          <p:nvPr/>
        </p:nvSpPr>
        <p:spPr>
          <a:xfrm>
            <a:off x="731520" y="3474720"/>
            <a:ext cx="10515600" cy="2743200"/>
          </a:xfrm>
          <a:prstGeom prst="roundRect">
            <a:avLst/>
          </a:prstGeom>
          <a:solidFill>
            <a:srgbClr val="0D2B45"/>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566160"/>
            <a:ext cx="10058400" cy="365760"/>
          </a:xfrm>
          <a:prstGeom prst="rect">
            <a:avLst/>
          </a:prstGeom>
          <a:noFill/>
        </p:spPr>
        <p:txBody>
          <a:bodyPr wrap="square">
            <a:spAutoFit/>
          </a:bodyPr>
          <a:lstStyle/>
          <a:p>
            <a:pPr algn="l">
              <a:defRPr sz="2000" b="1">
                <a:solidFill>
                  <a:srgbClr val="0096C7"/>
                </a:solidFill>
                <a:latin typeface="Calibri"/>
              </a:defRPr>
            </a:pPr>
            <a:r>
              <a:t>Why This Survives Compression</a:t>
            </a:r>
          </a:p>
        </p:txBody>
      </p:sp>
      <p:sp>
        <p:nvSpPr>
          <p:cNvPr id="9" name="TextBox 8"/>
          <p:cNvSpPr txBox="1"/>
          <p:nvPr/>
        </p:nvSpPr>
        <p:spPr>
          <a:xfrm>
            <a:off x="1005840" y="4023360"/>
            <a:ext cx="10058400" cy="2011680"/>
          </a:xfrm>
          <a:prstGeom prst="rect">
            <a:avLst/>
          </a:prstGeom>
          <a:noFill/>
        </p:spPr>
        <p:txBody>
          <a:bodyPr wrap="square">
            <a:spAutoFit/>
          </a:bodyPr>
          <a:lstStyle/>
          <a:p>
            <a:pPr>
              <a:spcAft>
                <a:spcPts val="300"/>
              </a:spcAft>
              <a:defRPr sz="1400">
                <a:solidFill>
                  <a:srgbClr val="FFFFFF"/>
                </a:solidFill>
                <a:latin typeface="Calibri"/>
              </a:defRPr>
            </a:pPr>
            <a:r>
              <a:t>• Codecs MUST preserve formants — without them, you can't understand speech</a:t>
            </a:r>
          </a:p>
          <a:p>
            <a:pPr>
              <a:spcAft>
                <a:spcPts val="300"/>
              </a:spcAft>
              <a:defRPr sz="1400">
                <a:solidFill>
                  <a:srgbClr val="FFFFFF"/>
                </a:solidFill>
                <a:latin typeface="Calibri"/>
              </a:defRPr>
            </a:pPr>
            <a:r>
              <a:t>• Phone codecs (G.729) explicitly encode formant frequencies</a:t>
            </a:r>
          </a:p>
          <a:p>
            <a:pPr>
              <a:spcAft>
                <a:spcPts val="300"/>
              </a:spcAft>
              <a:defRPr sz="1400">
                <a:solidFill>
                  <a:srgbClr val="FFFFFF"/>
                </a:solidFill>
                <a:latin typeface="Calibri"/>
              </a:defRPr>
            </a:pPr>
            <a:r>
              <a:t>• Even MP3 and AAC preserve the resonance structure below 4 kHz</a:t>
            </a:r>
          </a:p>
          <a:p>
            <a:pPr>
              <a:spcAft>
                <a:spcPts val="300"/>
              </a:spcAft>
              <a:defRPr sz="1400">
                <a:solidFill>
                  <a:srgbClr val="FFFFFF"/>
                </a:solidFill>
                <a:latin typeface="Calibri"/>
              </a:defRPr>
            </a:pPr>
            <a:r>
              <a:t>• The 154 Hz gap between real and fake survives all 9 tested codecs</a:t>
            </a:r>
          </a:p>
          <a:p>
            <a:pPr>
              <a:spcAft>
                <a:spcPts val="300"/>
              </a:spcAft>
              <a:defRPr sz="1400">
                <a:solidFill>
                  <a:srgbClr val="FFFFFF"/>
                </a:solidFill>
                <a:latin typeface="Calibri"/>
              </a:defRPr>
            </a:pPr>
            <a:r>
              <a:t>• Formant values change by only 6% under compression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182880"/>
            <a:ext cx="10972800" cy="457200"/>
          </a:xfrm>
          <a:prstGeom prst="rect">
            <a:avLst/>
          </a:prstGeom>
          <a:noFill/>
        </p:spPr>
        <p:txBody>
          <a:bodyPr wrap="square">
            <a:spAutoFit/>
          </a:bodyPr>
          <a:lstStyle/>
          <a:p>
            <a:pPr algn="l">
              <a:defRPr sz="2800" b="1">
                <a:solidFill>
                  <a:srgbClr val="FFFFFF"/>
                </a:solidFill>
                <a:latin typeface="Calibri"/>
              </a:defRPr>
            </a:pPr>
            <a:r>
              <a:t>Detection Results: 5 Simple Classifiers</a:t>
            </a:r>
          </a:p>
        </p:txBody>
      </p:sp>
      <p:pic>
        <p:nvPicPr>
          <p:cNvPr id="3" name="Picture 2" descr="fig5_roc_curves.png"/>
          <p:cNvPicPr>
            <a:picLocks noChangeAspect="1"/>
          </p:cNvPicPr>
          <p:nvPr/>
        </p:nvPicPr>
        <p:blipFill>
          <a:blip r:embed="rId2"/>
          <a:stretch>
            <a:fillRect/>
          </a:stretch>
        </p:blipFill>
        <p:spPr>
          <a:xfrm>
            <a:off x="274320" y="731520"/>
            <a:ext cx="5943600" cy="4572000"/>
          </a:xfrm>
          <a:prstGeom prst="rect">
            <a:avLst/>
          </a:prstGeom>
        </p:spPr>
      </p:pic>
      <p:sp>
        <p:nvSpPr>
          <p:cNvPr id="4" name="TextBox 3"/>
          <p:cNvSpPr txBox="1"/>
          <p:nvPr/>
        </p:nvSpPr>
        <p:spPr>
          <a:xfrm>
            <a:off x="6583680" y="731520"/>
            <a:ext cx="5029200" cy="365760"/>
          </a:xfrm>
          <a:prstGeom prst="rect">
            <a:avLst/>
          </a:prstGeom>
          <a:noFill/>
        </p:spPr>
        <p:txBody>
          <a:bodyPr wrap="square">
            <a:spAutoFit/>
          </a:bodyPr>
          <a:lstStyle/>
          <a:p>
            <a:pPr algn="l">
              <a:defRPr sz="1400" b="1">
                <a:solidFill>
                  <a:srgbClr val="0096C7"/>
                </a:solidFill>
                <a:latin typeface="Calibri"/>
              </a:defRPr>
            </a:pPr>
            <a:r>
              <a:t>Formants + Prosody (15 features)</a:t>
            </a:r>
          </a:p>
        </p:txBody>
      </p:sp>
      <p:graphicFrame>
        <p:nvGraphicFramePr>
          <p:cNvPr id="5" name="Table 4"/>
          <p:cNvGraphicFramePr>
            <a:graphicFrameLocks noGrp="1"/>
          </p:cNvGraphicFramePr>
          <p:nvPr/>
        </p:nvGraphicFramePr>
        <p:xfrm>
          <a:off x="6400800" y="1188720"/>
          <a:ext cx="5120640" cy="2560320"/>
        </p:xfrm>
        <a:graphic>
          <a:graphicData uri="http://schemas.openxmlformats.org/drawingml/2006/table">
            <a:tbl>
              <a:tblPr firstRow="1" bandRow="1">
                <a:tableStyleId>{5C22544A-7EE6-4342-B048-85BDC9FD1C3A}</a:tableStyleId>
              </a:tblPr>
              <a:tblGrid>
                <a:gridCol w="1828800"/>
                <a:gridCol w="1097280"/>
                <a:gridCol w="1097280"/>
                <a:gridCol w="1097280"/>
              </a:tblGrid>
              <a:tr h="426720">
                <a:tc>
                  <a:txBody>
                    <a:bodyPr/>
                    <a:lstStyle/>
                    <a:p>
                      <a:pPr algn="ctr">
                        <a:defRPr sz="1200" b="1">
                          <a:solidFill>
                            <a:srgbClr val="FFFFFF"/>
                          </a:solidFill>
                          <a:latin typeface="Calibri"/>
                        </a:defRPr>
                      </a:pPr>
                      <a:r>
                        <a:t>Model</a:t>
                      </a:r>
                    </a:p>
                  </a:txBody>
                  <a:tcPr>
                    <a:solidFill>
                      <a:srgbClr val="0D47A1"/>
                    </a:solidFill>
                  </a:tcPr>
                </a:tc>
                <a:tc>
                  <a:txBody>
                    <a:bodyPr/>
                    <a:lstStyle/>
                    <a:p>
                      <a:pPr algn="ctr">
                        <a:defRPr sz="1200" b="1">
                          <a:solidFill>
                            <a:srgbClr val="FFFFFF"/>
                          </a:solidFill>
                          <a:latin typeface="Calibri"/>
                        </a:defRPr>
                      </a:pPr>
                      <a:r>
                        <a:t>Lab</a:t>
                      </a:r>
                    </a:p>
                  </a:txBody>
                  <a:tcPr>
                    <a:solidFill>
                      <a:srgbClr val="0D47A1"/>
                    </a:solidFill>
                  </a:tcPr>
                </a:tc>
                <a:tc>
                  <a:txBody>
                    <a:bodyPr/>
                    <a:lstStyle/>
                    <a:p>
                      <a:pPr algn="ctr">
                        <a:defRPr sz="1200" b="1">
                          <a:solidFill>
                            <a:srgbClr val="FFFFFF"/>
                          </a:solidFill>
                          <a:latin typeface="Calibri"/>
                        </a:defRPr>
                      </a:pPr>
                      <a:r>
                        <a:t>Unseen</a:t>
                      </a:r>
                    </a:p>
                    <a:p>
                      <a:pPr algn="ctr">
                        <a:defRPr sz="1200" b="1">
                          <a:solidFill>
                            <a:srgbClr val="FFFFFF"/>
                          </a:solidFill>
                          <a:latin typeface="Calibri"/>
                        </a:defRPr>
                      </a:pPr>
                      <a:r>
                        <a:t>attacks</a:t>
                      </a:r>
                    </a:p>
                  </a:txBody>
                  <a:tcPr>
                    <a:solidFill>
                      <a:srgbClr val="0D47A1"/>
                    </a:solidFill>
                  </a:tcPr>
                </a:tc>
                <a:tc>
                  <a:txBody>
                    <a:bodyPr/>
                    <a:lstStyle/>
                    <a:p>
                      <a:pPr algn="ctr">
                        <a:defRPr sz="1200" b="1">
                          <a:solidFill>
                            <a:srgbClr val="FFFFFF"/>
                          </a:solidFill>
                          <a:latin typeface="Calibri"/>
                        </a:defRPr>
                      </a:pPr>
                      <a:r>
                        <a:t>After</a:t>
                      </a:r>
                    </a:p>
                    <a:p>
                      <a:pPr algn="ctr">
                        <a:defRPr sz="1200" b="1">
                          <a:solidFill>
                            <a:srgbClr val="FFFFFF"/>
                          </a:solidFill>
                          <a:latin typeface="Calibri"/>
                        </a:defRPr>
                      </a:pPr>
                      <a:r>
                        <a:t>codecs</a:t>
                      </a:r>
                    </a:p>
                  </a:txBody>
                  <a:tcPr>
                    <a:solidFill>
                      <a:srgbClr val="0D47A1"/>
                    </a:solidFill>
                  </a:tcPr>
                </a:tc>
              </a:tr>
              <a:tr h="426720">
                <a:tc>
                  <a:txBody>
                    <a:bodyPr/>
                    <a:lstStyle/>
                    <a:p>
                      <a:pPr algn="ctr">
                        <a:defRPr sz="1200">
                          <a:solidFill>
                            <a:srgbClr val="FFFFFF"/>
                          </a:solidFill>
                          <a:latin typeface="Calibri"/>
                        </a:defRPr>
                      </a:pPr>
                      <a:r>
                        <a:t>Logistic Reg.</a:t>
                      </a:r>
                    </a:p>
                  </a:txBody>
                  <a:tcPr/>
                </a:tc>
                <a:tc>
                  <a:txBody>
                    <a:bodyPr/>
                    <a:lstStyle/>
                    <a:p>
                      <a:pPr algn="ctr">
                        <a:defRPr sz="1200">
                          <a:solidFill>
                            <a:srgbClr val="FFFFFF"/>
                          </a:solidFill>
                          <a:latin typeface="Calibri"/>
                        </a:defRPr>
                      </a:pPr>
                      <a:r>
                        <a:t>14.6%</a:t>
                      </a:r>
                    </a:p>
                  </a:txBody>
                  <a:tcPr/>
                </a:tc>
                <a:tc>
                  <a:txBody>
                    <a:bodyPr/>
                    <a:lstStyle/>
                    <a:p>
                      <a:pPr algn="ctr">
                        <a:defRPr sz="1200">
                          <a:solidFill>
                            <a:srgbClr val="FFFFFF"/>
                          </a:solidFill>
                          <a:latin typeface="Calibri"/>
                        </a:defRPr>
                      </a:pPr>
                      <a:r>
                        <a:t>17.2%</a:t>
                      </a:r>
                    </a:p>
                  </a:txBody>
                  <a:tcPr/>
                </a:tc>
                <a:tc>
                  <a:txBody>
                    <a:bodyPr/>
                    <a:lstStyle/>
                    <a:p>
                      <a:pPr algn="ctr">
                        <a:defRPr sz="1200">
                          <a:solidFill>
                            <a:srgbClr val="FFFFFF"/>
                          </a:solidFill>
                          <a:latin typeface="Calibri"/>
                        </a:defRPr>
                      </a:pPr>
                      <a:r>
                        <a:t>24.5%</a:t>
                      </a:r>
                    </a:p>
                  </a:txBody>
                  <a:tcPr/>
                </a:tc>
              </a:tr>
              <a:tr h="426720">
                <a:tc>
                  <a:txBody>
                    <a:bodyPr/>
                    <a:lstStyle/>
                    <a:p>
                      <a:pPr algn="ctr">
                        <a:defRPr sz="1200">
                          <a:solidFill>
                            <a:srgbClr val="FFFFFF"/>
                          </a:solidFill>
                          <a:latin typeface="Calibri"/>
                        </a:defRPr>
                      </a:pPr>
                      <a:r>
                        <a:t>SVM</a:t>
                      </a:r>
                    </a:p>
                  </a:txBody>
                  <a:tcPr/>
                </a:tc>
                <a:tc>
                  <a:txBody>
                    <a:bodyPr/>
                    <a:lstStyle/>
                    <a:p>
                      <a:pPr algn="ctr">
                        <a:defRPr sz="1200">
                          <a:solidFill>
                            <a:srgbClr val="FFFFFF"/>
                          </a:solidFill>
                          <a:latin typeface="Calibri"/>
                        </a:defRPr>
                      </a:pPr>
                      <a:r>
                        <a:t>11.4%</a:t>
                      </a:r>
                    </a:p>
                  </a:txBody>
                  <a:tcPr/>
                </a:tc>
                <a:tc>
                  <a:txBody>
                    <a:bodyPr/>
                    <a:lstStyle/>
                    <a:p>
                      <a:pPr algn="ctr">
                        <a:defRPr sz="1200">
                          <a:solidFill>
                            <a:srgbClr val="FFFFFF"/>
                          </a:solidFill>
                          <a:latin typeface="Calibri"/>
                        </a:defRPr>
                      </a:pPr>
                      <a:r>
                        <a:t>17.2%</a:t>
                      </a:r>
                    </a:p>
                  </a:txBody>
                  <a:tcPr/>
                </a:tc>
                <a:tc>
                  <a:txBody>
                    <a:bodyPr/>
                    <a:lstStyle/>
                    <a:p>
                      <a:pPr algn="ctr">
                        <a:defRPr sz="1200">
                          <a:solidFill>
                            <a:srgbClr val="FFFFFF"/>
                          </a:solidFill>
                          <a:latin typeface="Calibri"/>
                        </a:defRPr>
                      </a:pPr>
                      <a:r>
                        <a:t>21.5%</a:t>
                      </a:r>
                    </a:p>
                  </a:txBody>
                  <a:tcPr/>
                </a:tc>
              </a:tr>
              <a:tr h="426720">
                <a:tc>
                  <a:txBody>
                    <a:bodyPr/>
                    <a:lstStyle/>
                    <a:p>
                      <a:pPr algn="ctr">
                        <a:defRPr sz="1200">
                          <a:solidFill>
                            <a:srgbClr val="FFFFFF"/>
                          </a:solidFill>
                          <a:latin typeface="Calibri"/>
                        </a:defRPr>
                      </a:pPr>
                      <a:r>
                        <a:t>Neural Net</a:t>
                      </a:r>
                    </a:p>
                  </a:txBody>
                  <a:tcPr/>
                </a:tc>
                <a:tc>
                  <a:txBody>
                    <a:bodyPr/>
                    <a:lstStyle/>
                    <a:p>
                      <a:pPr algn="ctr">
                        <a:defRPr sz="1200">
                          <a:solidFill>
                            <a:srgbClr val="FFFFFF"/>
                          </a:solidFill>
                          <a:latin typeface="Calibri"/>
                        </a:defRPr>
                      </a:pPr>
                      <a:r>
                        <a:t>10.6%</a:t>
                      </a:r>
                    </a:p>
                  </a:txBody>
                  <a:tcPr/>
                </a:tc>
                <a:tc>
                  <a:txBody>
                    <a:bodyPr/>
                    <a:lstStyle/>
                    <a:p>
                      <a:pPr algn="ctr">
                        <a:defRPr sz="1200">
                          <a:solidFill>
                            <a:srgbClr val="FFFFFF"/>
                          </a:solidFill>
                          <a:latin typeface="Calibri"/>
                        </a:defRPr>
                      </a:pPr>
                      <a:r>
                        <a:t>17.3%</a:t>
                      </a:r>
                    </a:p>
                  </a:txBody>
                  <a:tcPr/>
                </a:tc>
                <a:tc>
                  <a:txBody>
                    <a:bodyPr/>
                    <a:lstStyle/>
                    <a:p>
                      <a:pPr algn="ctr">
                        <a:defRPr sz="1200">
                          <a:solidFill>
                            <a:srgbClr val="FFFFFF"/>
                          </a:solidFill>
                          <a:latin typeface="Calibri"/>
                        </a:defRPr>
                      </a:pPr>
                      <a:r>
                        <a:t>22.3%</a:t>
                      </a:r>
                    </a:p>
                  </a:txBody>
                  <a:tcPr/>
                </a:tc>
              </a:tr>
              <a:tr h="426720">
                <a:tc>
                  <a:txBody>
                    <a:bodyPr/>
                    <a:lstStyle/>
                    <a:p>
                      <a:pPr algn="ctr">
                        <a:defRPr sz="1200">
                          <a:solidFill>
                            <a:srgbClr val="FFFFFF"/>
                          </a:solidFill>
                          <a:latin typeface="Calibri"/>
                        </a:defRPr>
                      </a:pPr>
                      <a:r>
                        <a:t>Decision Tree</a:t>
                      </a:r>
                    </a:p>
                  </a:txBody>
                  <a:tcPr/>
                </a:tc>
                <a:tc>
                  <a:txBody>
                    <a:bodyPr/>
                    <a:lstStyle/>
                    <a:p>
                      <a:pPr algn="ctr">
                        <a:defRPr sz="1200">
                          <a:solidFill>
                            <a:srgbClr val="FFFFFF"/>
                          </a:solidFill>
                          <a:latin typeface="Calibri"/>
                        </a:defRPr>
                      </a:pPr>
                      <a:r>
                        <a:t>16.6%</a:t>
                      </a:r>
                    </a:p>
                  </a:txBody>
                  <a:tcPr/>
                </a:tc>
                <a:tc>
                  <a:txBody>
                    <a:bodyPr/>
                    <a:lstStyle/>
                    <a:p>
                      <a:pPr algn="ctr">
                        <a:defRPr sz="1200">
                          <a:solidFill>
                            <a:srgbClr val="FFFFFF"/>
                          </a:solidFill>
                          <a:latin typeface="Calibri"/>
                        </a:defRPr>
                      </a:pPr>
                      <a:r>
                        <a:t>21.8%</a:t>
                      </a:r>
                    </a:p>
                  </a:txBody>
                  <a:tcPr/>
                </a:tc>
                <a:tc>
                  <a:txBody>
                    <a:bodyPr/>
                    <a:lstStyle/>
                    <a:p>
                      <a:pPr algn="ctr">
                        <a:defRPr sz="1200">
                          <a:solidFill>
                            <a:srgbClr val="FFFFFF"/>
                          </a:solidFill>
                          <a:latin typeface="Calibri"/>
                        </a:defRPr>
                      </a:pPr>
                      <a:r>
                        <a:t>22.9%</a:t>
                      </a:r>
                    </a:p>
                  </a:txBody>
                  <a:tcPr/>
                </a:tc>
              </a:tr>
              <a:tr h="426720">
                <a:tc>
                  <a:txBody>
                    <a:bodyPr/>
                    <a:lstStyle/>
                    <a:p>
                      <a:pPr algn="ctr">
                        <a:defRPr sz="1200">
                          <a:solidFill>
                            <a:srgbClr val="FFFFFF"/>
                          </a:solidFill>
                          <a:latin typeface="Calibri"/>
                        </a:defRPr>
                      </a:pPr>
                      <a:r>
                        <a:t>Random Forest</a:t>
                      </a:r>
                    </a:p>
                  </a:txBody>
                  <a:tcPr/>
                </a:tc>
                <a:tc>
                  <a:txBody>
                    <a:bodyPr/>
                    <a:lstStyle/>
                    <a:p>
                      <a:pPr algn="ctr">
                        <a:defRPr sz="1200">
                          <a:solidFill>
                            <a:srgbClr val="FFFFFF"/>
                          </a:solidFill>
                          <a:latin typeface="Calibri"/>
                        </a:defRPr>
                      </a:pPr>
                      <a:r>
                        <a:t>14.2%</a:t>
                      </a:r>
                    </a:p>
                  </a:txBody>
                  <a:tcPr/>
                </a:tc>
                <a:tc>
                  <a:txBody>
                    <a:bodyPr/>
                    <a:lstStyle/>
                    <a:p>
                      <a:pPr algn="ctr">
                        <a:defRPr sz="1200">
                          <a:solidFill>
                            <a:srgbClr val="FFFFFF"/>
                          </a:solidFill>
                          <a:latin typeface="Calibri"/>
                        </a:defRPr>
                      </a:pPr>
                      <a:r>
                        <a:t>18.5%</a:t>
                      </a:r>
                    </a:p>
                  </a:txBody>
                  <a:tcPr/>
                </a:tc>
                <a:tc>
                  <a:txBody>
                    <a:bodyPr/>
                    <a:lstStyle/>
                    <a:p>
                      <a:pPr algn="ctr">
                        <a:defRPr sz="1200">
                          <a:solidFill>
                            <a:srgbClr val="FFFFFF"/>
                          </a:solidFill>
                          <a:latin typeface="Calibri"/>
                        </a:defRPr>
                      </a:pPr>
                      <a:r>
                        <a:t>21.2%</a:t>
                      </a:r>
                    </a:p>
                  </a:txBody>
                  <a:tcPr/>
                </a:tc>
              </a:tr>
            </a:tbl>
          </a:graphicData>
        </a:graphic>
      </p:graphicFrame>
      <p:sp>
        <p:nvSpPr>
          <p:cNvPr id="6" name="TextBox 5"/>
          <p:cNvSpPr txBox="1"/>
          <p:nvPr/>
        </p:nvSpPr>
        <p:spPr>
          <a:xfrm>
            <a:off x="6400800" y="3931920"/>
            <a:ext cx="5303520" cy="2286000"/>
          </a:xfrm>
          <a:prstGeom prst="rect">
            <a:avLst/>
          </a:prstGeom>
          <a:noFill/>
        </p:spPr>
        <p:txBody>
          <a:bodyPr wrap="square">
            <a:spAutoFit/>
          </a:bodyPr>
          <a:lstStyle/>
          <a:p>
            <a:pPr>
              <a:spcAft>
                <a:spcPts val="300"/>
              </a:spcAft>
              <a:defRPr sz="1100">
                <a:solidFill>
                  <a:srgbClr val="CCCCCC"/>
                </a:solidFill>
                <a:latin typeface="Calibri"/>
              </a:defRPr>
            </a:pPr>
            <a:r>
              <a:t>• Error rate = % of wrong predictions</a:t>
            </a:r>
          </a:p>
          <a:p>
            <a:pPr>
              <a:spcAft>
                <a:spcPts val="300"/>
              </a:spcAft>
              <a:defRPr sz="1100">
                <a:solidFill>
                  <a:srgbClr val="CCCCCC"/>
                </a:solidFill>
                <a:latin typeface="Calibri"/>
              </a:defRPr>
            </a:pPr>
            <a:r>
              <a:t>• Best in lab: 10.6% (Neural Net)</a:t>
            </a:r>
          </a:p>
          <a:p>
            <a:pPr>
              <a:spcAft>
                <a:spcPts val="300"/>
              </a:spcAft>
              <a:defRPr sz="1100">
                <a:solidFill>
                  <a:srgbClr val="CCCCCC"/>
                </a:solidFill>
                <a:latin typeface="Calibri"/>
              </a:defRPr>
            </a:pPr>
            <a:r>
              <a:t>• After codecs: 21-25% (degrades, doesn't collapse)</a:t>
            </a:r>
          </a:p>
          <a:p>
            <a:pPr>
              <a:spcAft>
                <a:spcPts val="300"/>
              </a:spcAft>
              <a:defRPr sz="1100">
                <a:solidFill>
                  <a:srgbClr val="CCCCCC"/>
                </a:solidFill>
                <a:latin typeface="Calibri"/>
              </a:defRPr>
            </a:pPr>
            <a:r>
              <a:t>• Compare: all-36 features → 50% after codecs!</a:t>
            </a:r>
          </a:p>
          <a:p>
            <a:pPr>
              <a:spcAft>
                <a:spcPts val="300"/>
              </a:spcAft>
              <a:defRPr sz="1100">
                <a:solidFill>
                  <a:srgbClr val="CCCCCC"/>
                </a:solidFill>
                <a:latin typeface="Calibri"/>
              </a:defRPr>
            </a:pPr>
            <a:r>
              <a:t>• Trained on official ASVspoof challenge splits</a:t>
            </a:r>
          </a:p>
          <a:p>
            <a:pPr>
              <a:spcAft>
                <a:spcPts val="300"/>
              </a:spcAft>
              <a:defRPr sz="1100">
                <a:solidFill>
                  <a:srgbClr val="CCCCCC"/>
                </a:solidFill>
                <a:latin typeface="Calibri"/>
              </a:defRPr>
            </a:pPr>
            <a:r>
              <a:t>• Adjusted for 9:1 fake-to-real imbalance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182880"/>
            <a:ext cx="10972800" cy="457200"/>
          </a:xfrm>
          <a:prstGeom prst="rect">
            <a:avLst/>
          </a:prstGeom>
          <a:noFill/>
        </p:spPr>
        <p:txBody>
          <a:bodyPr wrap="square">
            <a:spAutoFit/>
          </a:bodyPr>
          <a:lstStyle/>
          <a:p>
            <a:pPr algn="l">
              <a:defRPr sz="2800" b="1">
                <a:solidFill>
                  <a:srgbClr val="FFFFFF"/>
                </a:solidFill>
                <a:latin typeface="Calibri"/>
              </a:defRPr>
            </a:pPr>
            <a:r>
              <a:t>Per-Codec Results &amp; Most Important Features</a:t>
            </a:r>
          </a:p>
        </p:txBody>
      </p:sp>
      <p:pic>
        <p:nvPicPr>
          <p:cNvPr id="3" name="Picture 2" descr="fig4_codec_heatmap.png"/>
          <p:cNvPicPr>
            <a:picLocks noChangeAspect="1"/>
          </p:cNvPicPr>
          <p:nvPr/>
        </p:nvPicPr>
        <p:blipFill>
          <a:blip r:embed="rId2"/>
          <a:stretch>
            <a:fillRect/>
          </a:stretch>
        </p:blipFill>
        <p:spPr>
          <a:xfrm>
            <a:off x="274320" y="731520"/>
            <a:ext cx="6217920" cy="3200400"/>
          </a:xfrm>
          <a:prstGeom prst="rect">
            <a:avLst/>
          </a:prstGeom>
        </p:spPr>
      </p:pic>
      <p:pic>
        <p:nvPicPr>
          <p:cNvPr id="4" name="Picture 3" descr="fig6_feature_importance.png"/>
          <p:cNvPicPr>
            <a:picLocks noChangeAspect="1"/>
          </p:cNvPicPr>
          <p:nvPr/>
        </p:nvPicPr>
        <p:blipFill>
          <a:blip r:embed="rId3"/>
          <a:stretch>
            <a:fillRect/>
          </a:stretch>
        </p:blipFill>
        <p:spPr>
          <a:xfrm>
            <a:off x="274320" y="4114800"/>
            <a:ext cx="6217920" cy="2560320"/>
          </a:xfrm>
          <a:prstGeom prst="rect">
            <a:avLst/>
          </a:prstGeom>
        </p:spPr>
      </p:pic>
      <p:sp>
        <p:nvSpPr>
          <p:cNvPr id="5" name="TextBox 4"/>
          <p:cNvSpPr txBox="1"/>
          <p:nvPr/>
        </p:nvSpPr>
        <p:spPr>
          <a:xfrm>
            <a:off x="6858000" y="731520"/>
            <a:ext cx="4846320" cy="365760"/>
          </a:xfrm>
          <a:prstGeom prst="rect">
            <a:avLst/>
          </a:prstGeom>
          <a:noFill/>
        </p:spPr>
        <p:txBody>
          <a:bodyPr wrap="square">
            <a:spAutoFit/>
          </a:bodyPr>
          <a:lstStyle/>
          <a:p>
            <a:pPr algn="l">
              <a:defRPr sz="1800" b="1">
                <a:solidFill>
                  <a:srgbClr val="2ECC71"/>
                </a:solidFill>
                <a:latin typeface="Calibri"/>
              </a:defRPr>
            </a:pPr>
            <a:r>
              <a:t>Every Codec Tested</a:t>
            </a:r>
          </a:p>
        </p:txBody>
      </p:sp>
      <p:sp>
        <p:nvSpPr>
          <p:cNvPr id="6" name="TextBox 5"/>
          <p:cNvSpPr txBox="1"/>
          <p:nvPr/>
        </p:nvSpPr>
        <p:spPr>
          <a:xfrm>
            <a:off x="6858000" y="1188720"/>
            <a:ext cx="4846320" cy="2286000"/>
          </a:xfrm>
          <a:prstGeom prst="rect">
            <a:avLst/>
          </a:prstGeom>
          <a:noFill/>
        </p:spPr>
        <p:txBody>
          <a:bodyPr wrap="square">
            <a:spAutoFit/>
          </a:bodyPr>
          <a:lstStyle/>
          <a:p>
            <a:pPr>
              <a:spcAft>
                <a:spcPts val="300"/>
              </a:spcAft>
              <a:defRPr sz="1300">
                <a:solidFill>
                  <a:srgbClr val="CCCCCC"/>
                </a:solidFill>
                <a:latin typeface="Calibri"/>
              </a:defRPr>
            </a:pPr>
            <a:r>
              <a:t>• Formants: 19–24% error across ALL codecs</a:t>
            </a:r>
          </a:p>
          <a:p>
            <a:pPr>
              <a:spcAft>
                <a:spcPts val="300"/>
              </a:spcAft>
              <a:defRPr sz="1300">
                <a:solidFill>
                  <a:srgbClr val="CCCCCC"/>
                </a:solidFill>
                <a:latin typeface="Calibri"/>
              </a:defRPr>
            </a:pPr>
            <a:r>
              <a:t>• Stable — only 5% variation between codecs</a:t>
            </a:r>
          </a:p>
          <a:p>
            <a:pPr>
              <a:spcAft>
                <a:spcPts val="300"/>
              </a:spcAft>
              <a:defRPr sz="1300">
                <a:solidFill>
                  <a:srgbClr val="CCCCCC"/>
                </a:solidFill>
                <a:latin typeface="Calibri"/>
              </a:defRPr>
            </a:pPr>
            <a:r>
              <a:t>• All-36 features: 50% on EVERY codec</a:t>
            </a:r>
          </a:p>
          <a:p>
            <a:pPr>
              <a:spcAft>
                <a:spcPts val="300"/>
              </a:spcAft>
              <a:defRPr sz="1300">
                <a:solidFill>
                  <a:srgbClr val="CCCCCC"/>
                </a:solidFill>
                <a:latin typeface="Calibri"/>
              </a:defRPr>
            </a:pPr>
            <a:r>
              <a:t>• Green = good, Red = bad</a:t>
            </a:r>
          </a:p>
        </p:txBody>
      </p:sp>
      <p:sp>
        <p:nvSpPr>
          <p:cNvPr id="7" name="TextBox 6"/>
          <p:cNvSpPr txBox="1"/>
          <p:nvPr/>
        </p:nvSpPr>
        <p:spPr>
          <a:xfrm>
            <a:off x="6858000" y="4114800"/>
            <a:ext cx="4846320" cy="365760"/>
          </a:xfrm>
          <a:prstGeom prst="rect">
            <a:avLst/>
          </a:prstGeom>
          <a:noFill/>
        </p:spPr>
        <p:txBody>
          <a:bodyPr wrap="square">
            <a:spAutoFit/>
          </a:bodyPr>
          <a:lstStyle/>
          <a:p>
            <a:pPr algn="l">
              <a:defRPr sz="1800" b="1">
                <a:solidFill>
                  <a:srgbClr val="F39C12"/>
                </a:solidFill>
                <a:latin typeface="Calibri"/>
              </a:defRPr>
            </a:pPr>
            <a:r>
              <a:t>Which Features Matter Most</a:t>
            </a:r>
          </a:p>
        </p:txBody>
      </p:sp>
      <p:sp>
        <p:nvSpPr>
          <p:cNvPr id="8" name="TextBox 7"/>
          <p:cNvSpPr txBox="1"/>
          <p:nvPr/>
        </p:nvSpPr>
        <p:spPr>
          <a:xfrm>
            <a:off x="6858000" y="4572000"/>
            <a:ext cx="4846320" cy="2286000"/>
          </a:xfrm>
          <a:prstGeom prst="rect">
            <a:avLst/>
          </a:prstGeom>
          <a:noFill/>
        </p:spPr>
        <p:txBody>
          <a:bodyPr wrap="square">
            <a:spAutoFit/>
          </a:bodyPr>
          <a:lstStyle/>
          <a:p>
            <a:pPr>
              <a:spcAft>
                <a:spcPts val="300"/>
              </a:spcAft>
              <a:defRPr sz="1300">
                <a:solidFill>
                  <a:srgbClr val="CCCCCC"/>
                </a:solidFill>
                <a:latin typeface="Calibri"/>
              </a:defRPr>
            </a:pPr>
            <a:r>
              <a:t>• F1 bandwidth: 26% of importance</a:t>
            </a:r>
          </a:p>
          <a:p>
            <a:pPr>
              <a:spcAft>
                <a:spcPts val="300"/>
              </a:spcAft>
              <a:defRPr sz="1300">
                <a:solidFill>
                  <a:srgbClr val="CCCCCC"/>
                </a:solidFill>
                <a:latin typeface="Calibri"/>
              </a:defRPr>
            </a:pPr>
            <a:r>
              <a:t>  (the single best deepfake indicator)</a:t>
            </a:r>
          </a:p>
          <a:p>
            <a:pPr>
              <a:spcAft>
                <a:spcPts val="300"/>
              </a:spcAft>
              <a:defRPr sz="1300">
                <a:solidFill>
                  <a:srgbClr val="CCCCCC"/>
                </a:solidFill>
                <a:latin typeface="Calibri"/>
              </a:defRPr>
            </a:pPr>
            <a:r>
              <a:t>• F1 mean: 15%</a:t>
            </a:r>
          </a:p>
          <a:p>
            <a:pPr>
              <a:spcAft>
                <a:spcPts val="300"/>
              </a:spcAft>
              <a:defRPr sz="1300">
                <a:solidFill>
                  <a:srgbClr val="CCCCCC"/>
                </a:solidFill>
                <a:latin typeface="Calibri"/>
              </a:defRPr>
            </a:pPr>
            <a:r>
              <a:t>• F1/F2 ratio: 12%</a:t>
            </a:r>
          </a:p>
          <a:p>
            <a:pPr>
              <a:spcAft>
                <a:spcPts val="300"/>
              </a:spcAft>
              <a:defRPr sz="1300">
                <a:solidFill>
                  <a:srgbClr val="CCCCCC"/>
                </a:solidFill>
                <a:latin typeface="Calibri"/>
              </a:defRPr>
            </a:pPr>
            <a:r>
              <a:t>• Green = Formant, Purple = Prosody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274320"/>
            <a:ext cx="10972800" cy="457200"/>
          </a:xfrm>
          <a:prstGeom prst="rect">
            <a:avLst/>
          </a:prstGeom>
          <a:noFill/>
        </p:spPr>
        <p:txBody>
          <a:bodyPr wrap="square">
            <a:spAutoFit/>
          </a:bodyPr>
          <a:lstStyle/>
          <a:p>
            <a:pPr algn="l">
              <a:defRPr sz="3400" b="1">
                <a:solidFill>
                  <a:srgbClr val="FFFFFF"/>
                </a:solidFill>
                <a:latin typeface="Calibri"/>
              </a:defRPr>
            </a:pPr>
            <a:r>
              <a:t>Conclusions</a:t>
            </a:r>
          </a:p>
        </p:txBody>
      </p:sp>
      <p:sp>
        <p:nvSpPr>
          <p:cNvPr id="3" name="TextBox 2"/>
          <p:cNvSpPr txBox="1"/>
          <p:nvPr/>
        </p:nvSpPr>
        <p:spPr>
          <a:xfrm>
            <a:off x="731520" y="822960"/>
            <a:ext cx="5029200" cy="365760"/>
          </a:xfrm>
          <a:prstGeom prst="rect">
            <a:avLst/>
          </a:prstGeom>
          <a:noFill/>
        </p:spPr>
        <p:txBody>
          <a:bodyPr wrap="square">
            <a:spAutoFit/>
          </a:bodyPr>
          <a:lstStyle/>
          <a:p>
            <a:pPr algn="l">
              <a:defRPr sz="2200" b="1">
                <a:solidFill>
                  <a:srgbClr val="2ECC71"/>
                </a:solidFill>
                <a:latin typeface="Calibri"/>
              </a:defRPr>
            </a:pPr>
            <a:r>
              <a:t>What We Found</a:t>
            </a:r>
          </a:p>
        </p:txBody>
      </p:sp>
      <p:sp>
        <p:nvSpPr>
          <p:cNvPr id="4" name="TextBox 3"/>
          <p:cNvSpPr txBox="1"/>
          <p:nvPr/>
        </p:nvSpPr>
        <p:spPr>
          <a:xfrm>
            <a:off x="731520" y="1280160"/>
            <a:ext cx="5029200" cy="2560320"/>
          </a:xfrm>
          <a:prstGeom prst="rect">
            <a:avLst/>
          </a:prstGeom>
          <a:noFill/>
        </p:spPr>
        <p:txBody>
          <a:bodyPr wrap="square">
            <a:spAutoFit/>
          </a:bodyPr>
          <a:lstStyle/>
          <a:p>
            <a:pPr>
              <a:spcAft>
                <a:spcPts val="300"/>
              </a:spcAft>
              <a:defRPr sz="1300">
                <a:solidFill>
                  <a:srgbClr val="FFFFFF"/>
                </a:solidFill>
                <a:latin typeface="Calibri"/>
              </a:defRPr>
            </a:pPr>
            <a:r>
              <a:t>1. Out of 36 features, only 4 matter:</a:t>
            </a:r>
          </a:p>
          <a:p>
            <a:pPr>
              <a:spcAft>
                <a:spcPts val="300"/>
              </a:spcAft>
              <a:defRPr sz="1300">
                <a:solidFill>
                  <a:srgbClr val="FFFFFF"/>
                </a:solidFill>
                <a:latin typeface="Calibri"/>
              </a:defRPr>
            </a:pPr>
            <a:r>
              <a:t>   F1 bandwidth, F1 mean, F1 std, F1/F2 ratio</a:t>
            </a:r>
          </a:p>
          <a:p>
            <a:pPr>
              <a:spcAft>
                <a:spcPts val="300"/>
              </a:spcAft>
              <a:defRPr sz="1300">
                <a:solidFill>
                  <a:srgbClr val="FFFFFF"/>
                </a:solidFill>
                <a:latin typeface="Calibri"/>
              </a:defRPr>
            </a:pPr>
          </a:p>
          <a:p>
            <a:pPr>
              <a:spcAft>
                <a:spcPts val="300"/>
              </a:spcAft>
              <a:defRPr sz="1300">
                <a:solidFill>
                  <a:srgbClr val="FFFFFF"/>
                </a:solidFill>
                <a:latin typeface="Calibri"/>
              </a:defRPr>
            </a:pPr>
            <a:r>
              <a:t>2. Real: 515 Hz  |  Fake: 361 Hz</a:t>
            </a:r>
          </a:p>
          <a:p>
            <a:pPr>
              <a:spcAft>
                <a:spcPts val="300"/>
              </a:spcAft>
              <a:defRPr sz="1300">
                <a:solidFill>
                  <a:srgbClr val="FFFFFF"/>
                </a:solidFill>
                <a:latin typeface="Calibri"/>
              </a:defRPr>
            </a:pPr>
            <a:r>
              <a:t>   (1.32 standard deviations apart)</a:t>
            </a:r>
          </a:p>
          <a:p>
            <a:pPr>
              <a:spcAft>
                <a:spcPts val="300"/>
              </a:spcAft>
              <a:defRPr sz="1300">
                <a:solidFill>
                  <a:srgbClr val="FFFFFF"/>
                </a:solidFill>
                <a:latin typeface="Calibri"/>
              </a:defRPr>
            </a:pPr>
          </a:p>
          <a:p>
            <a:pPr>
              <a:spcAft>
                <a:spcPts val="300"/>
              </a:spcAft>
              <a:defRPr sz="1300">
                <a:solidFill>
                  <a:srgbClr val="FFFFFF"/>
                </a:solidFill>
                <a:latin typeface="Calibri"/>
              </a:defRPr>
            </a:pPr>
            <a:r>
              <a:t>3. Codecs change formants by only 6%</a:t>
            </a:r>
          </a:p>
          <a:p>
            <a:pPr>
              <a:spcAft>
                <a:spcPts val="300"/>
              </a:spcAft>
              <a:defRPr sz="1300">
                <a:solidFill>
                  <a:srgbClr val="FFFFFF"/>
                </a:solidFill>
                <a:latin typeface="Calibri"/>
              </a:defRPr>
            </a:pPr>
            <a:r>
              <a:t>   but change LFCC by 39%</a:t>
            </a:r>
          </a:p>
          <a:p>
            <a:pPr>
              <a:spcAft>
                <a:spcPts val="300"/>
              </a:spcAft>
              <a:defRPr sz="1300">
                <a:solidFill>
                  <a:srgbClr val="FFFFFF"/>
                </a:solidFill>
                <a:latin typeface="Calibri"/>
              </a:defRPr>
            </a:pPr>
          </a:p>
          <a:p>
            <a:pPr>
              <a:spcAft>
                <a:spcPts val="300"/>
              </a:spcAft>
              <a:defRPr sz="1300">
                <a:solidFill>
                  <a:srgbClr val="FFFFFF"/>
                </a:solidFill>
                <a:latin typeface="Calibri"/>
              </a:defRPr>
            </a:pPr>
            <a:r>
              <a:t>4. Using only stable features: 21-23% error</a:t>
            </a:r>
          </a:p>
          <a:p>
            <a:pPr>
              <a:spcAft>
                <a:spcPts val="300"/>
              </a:spcAft>
              <a:defRPr sz="1300">
                <a:solidFill>
                  <a:srgbClr val="FFFFFF"/>
                </a:solidFill>
                <a:latin typeface="Calibri"/>
              </a:defRPr>
            </a:pPr>
            <a:r>
              <a:t>   Using all features: 50% error (broken)</a:t>
            </a:r>
          </a:p>
        </p:txBody>
      </p:sp>
      <p:sp>
        <p:nvSpPr>
          <p:cNvPr id="5" name="TextBox 4"/>
          <p:cNvSpPr txBox="1"/>
          <p:nvPr/>
        </p:nvSpPr>
        <p:spPr>
          <a:xfrm>
            <a:off x="6400800" y="822960"/>
            <a:ext cx="5029200" cy="365760"/>
          </a:xfrm>
          <a:prstGeom prst="rect">
            <a:avLst/>
          </a:prstGeom>
          <a:noFill/>
        </p:spPr>
        <p:txBody>
          <a:bodyPr wrap="square">
            <a:spAutoFit/>
          </a:bodyPr>
          <a:lstStyle/>
          <a:p>
            <a:pPr algn="l">
              <a:defRPr sz="2200" b="1">
                <a:solidFill>
                  <a:srgbClr val="F39C12"/>
                </a:solidFill>
                <a:latin typeface="Calibri"/>
              </a:defRPr>
            </a:pPr>
            <a:r>
              <a:t>Limitations &amp; Next Steps</a:t>
            </a:r>
          </a:p>
        </p:txBody>
      </p:sp>
      <p:sp>
        <p:nvSpPr>
          <p:cNvPr id="6" name="TextBox 5"/>
          <p:cNvSpPr txBox="1"/>
          <p:nvPr/>
        </p:nvSpPr>
        <p:spPr>
          <a:xfrm>
            <a:off x="6400800" y="1280160"/>
            <a:ext cx="5029200" cy="2560320"/>
          </a:xfrm>
          <a:prstGeom prst="rect">
            <a:avLst/>
          </a:prstGeom>
          <a:noFill/>
        </p:spPr>
        <p:txBody>
          <a:bodyPr wrap="square">
            <a:spAutoFit/>
          </a:bodyPr>
          <a:lstStyle/>
          <a:p>
            <a:pPr>
              <a:spcAft>
                <a:spcPts val="300"/>
              </a:spcAft>
              <a:defRPr sz="1300">
                <a:solidFill>
                  <a:srgbClr val="FFFFFF"/>
                </a:solidFill>
                <a:latin typeface="Calibri"/>
              </a:defRPr>
            </a:pPr>
            <a:r>
              <a:t>1. 21-23% error is not state-of-the-art</a:t>
            </a:r>
          </a:p>
          <a:p>
            <a:pPr>
              <a:spcAft>
                <a:spcPts val="300"/>
              </a:spcAft>
              <a:defRPr sz="1300">
                <a:solidFill>
                  <a:srgbClr val="FFFFFF"/>
                </a:solidFill>
                <a:latin typeface="Calibri"/>
              </a:defRPr>
            </a:pPr>
            <a:r>
              <a:t>   (best neural systems: 1.9%)</a:t>
            </a:r>
          </a:p>
          <a:p>
            <a:pPr>
              <a:spcAft>
                <a:spcPts val="300"/>
              </a:spcAft>
              <a:defRPr sz="1300">
                <a:solidFill>
                  <a:srgbClr val="FFFFFF"/>
                </a:solidFill>
                <a:latin typeface="Calibri"/>
              </a:defRPr>
            </a:pPr>
          </a:p>
          <a:p>
            <a:pPr>
              <a:spcAft>
                <a:spcPts val="300"/>
              </a:spcAft>
              <a:defRPr sz="1300">
                <a:solidFill>
                  <a:srgbClr val="FFFFFF"/>
                </a:solidFill>
                <a:latin typeface="Calibri"/>
              </a:defRPr>
            </a:pPr>
            <a:r>
              <a:t>2. Advanced voice cloners can now make</a:t>
            </a:r>
          </a:p>
          <a:p>
            <a:pPr>
              <a:spcAft>
                <a:spcPts val="300"/>
              </a:spcAft>
              <a:defRPr sz="1300">
                <a:solidFill>
                  <a:srgbClr val="FFFFFF"/>
                </a:solidFill>
                <a:latin typeface="Calibri"/>
              </a:defRPr>
            </a:pPr>
            <a:r>
              <a:t>   realistic formants → need more features</a:t>
            </a:r>
          </a:p>
          <a:p>
            <a:pPr>
              <a:spcAft>
                <a:spcPts val="300"/>
              </a:spcAft>
              <a:defRPr sz="1300">
                <a:solidFill>
                  <a:srgbClr val="FFFFFF"/>
                </a:solidFill>
                <a:latin typeface="Calibri"/>
              </a:defRPr>
            </a:pPr>
          </a:p>
          <a:p>
            <a:pPr>
              <a:spcAft>
                <a:spcPts val="300"/>
              </a:spcAft>
              <a:defRPr sz="1300">
                <a:solidFill>
                  <a:srgbClr val="FFFFFF"/>
                </a:solidFill>
                <a:latin typeface="Calibri"/>
              </a:defRPr>
            </a:pPr>
            <a:r>
              <a:t>3. These are interpretable baselines:</a:t>
            </a:r>
          </a:p>
          <a:p>
            <a:pPr>
              <a:spcAft>
                <a:spcPts val="300"/>
              </a:spcAft>
              <a:defRPr sz="1300">
                <a:solidFill>
                  <a:srgbClr val="FFFFFF"/>
                </a:solidFill>
                <a:latin typeface="Calibri"/>
              </a:defRPr>
            </a:pPr>
            <a:r>
              <a:t>   you can explain WHY it flagged a file</a:t>
            </a:r>
          </a:p>
          <a:p>
            <a:pPr>
              <a:spcAft>
                <a:spcPts val="300"/>
              </a:spcAft>
              <a:defRPr sz="1300">
                <a:solidFill>
                  <a:srgbClr val="FFFFFF"/>
                </a:solidFill>
                <a:latin typeface="Calibri"/>
              </a:defRPr>
            </a:pPr>
          </a:p>
          <a:p>
            <a:pPr>
              <a:spcAft>
                <a:spcPts val="300"/>
              </a:spcAft>
              <a:defRPr sz="1300">
                <a:solidFill>
                  <a:srgbClr val="FFFFFF"/>
                </a:solidFill>
                <a:latin typeface="Calibri"/>
              </a:defRPr>
            </a:pPr>
            <a:r>
              <a:t>4. Next: combine with neural models for</a:t>
            </a:r>
          </a:p>
          <a:p>
            <a:pPr>
              <a:spcAft>
                <a:spcPts val="300"/>
              </a:spcAft>
              <a:defRPr sz="1300">
                <a:solidFill>
                  <a:srgbClr val="FFFFFF"/>
                </a:solidFill>
                <a:latin typeface="Calibri"/>
              </a:defRPr>
            </a:pPr>
            <a:r>
              <a:t>   accuracy AND explainability</a:t>
            </a:r>
          </a:p>
        </p:txBody>
      </p:sp>
      <p:sp>
        <p:nvSpPr>
          <p:cNvPr id="7" name="Rounded Rectangle 6"/>
          <p:cNvSpPr/>
          <p:nvPr/>
        </p:nvSpPr>
        <p:spPr>
          <a:xfrm>
            <a:off x="731520" y="4389120"/>
            <a:ext cx="10515600" cy="914400"/>
          </a:xfrm>
          <a:prstGeom prst="roundRect">
            <a:avLst/>
          </a:prstGeom>
          <a:solidFill>
            <a:srgbClr val="0D47A1"/>
          </a:solidFill>
          <a:ln w="25400">
            <a:solidFill>
              <a:srgbClr val="0096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4434840"/>
            <a:ext cx="10058400" cy="274320"/>
          </a:xfrm>
          <a:prstGeom prst="rect">
            <a:avLst/>
          </a:prstGeom>
          <a:noFill/>
        </p:spPr>
        <p:txBody>
          <a:bodyPr wrap="square">
            <a:spAutoFit/>
          </a:bodyPr>
          <a:lstStyle/>
          <a:p>
            <a:pPr algn="l">
              <a:defRPr sz="1400" b="1">
                <a:solidFill>
                  <a:srgbClr val="F39C12"/>
                </a:solidFill>
                <a:latin typeface="Calibri"/>
              </a:defRPr>
            </a:pPr>
            <a:r>
              <a:t>One-Sentence Summary</a:t>
            </a:r>
          </a:p>
        </p:txBody>
      </p:sp>
      <p:sp>
        <p:nvSpPr>
          <p:cNvPr id="9" name="TextBox 8"/>
          <p:cNvSpPr txBox="1"/>
          <p:nvPr/>
        </p:nvSpPr>
        <p:spPr>
          <a:xfrm>
            <a:off x="1005840" y="4709160"/>
            <a:ext cx="10058400" cy="457200"/>
          </a:xfrm>
          <a:prstGeom prst="rect">
            <a:avLst/>
          </a:prstGeom>
          <a:noFill/>
        </p:spPr>
        <p:txBody>
          <a:bodyPr wrap="square">
            <a:spAutoFit/>
          </a:bodyPr>
          <a:lstStyle/>
          <a:p>
            <a:pPr algn="ctr">
              <a:defRPr sz="1600" b="1">
                <a:solidFill>
                  <a:srgbClr val="FFFFFF"/>
                </a:solidFill>
                <a:latin typeface="Calibri"/>
              </a:defRPr>
            </a:pPr>
            <a:r>
              <a:t>Real speech has wider formant resonances than synthetic speech because physical</a:t>
            </a:r>
            <a:br/>
            <a:r>
              <a:t>vocal tracts have damping that voice synthesizers don’t model —</a:t>
            </a:r>
            <a:br/>
            <a:r>
              <a:t>and this difference survives audio compression.</a:t>
            </a:r>
          </a:p>
        </p:txBody>
      </p:sp>
      <p:sp>
        <p:nvSpPr>
          <p:cNvPr id="10" name="TextBox 9"/>
          <p:cNvSpPr txBox="1"/>
          <p:nvPr/>
        </p:nvSpPr>
        <p:spPr>
          <a:xfrm>
            <a:off x="731520" y="5669280"/>
            <a:ext cx="10515600" cy="274320"/>
          </a:xfrm>
          <a:prstGeom prst="rect">
            <a:avLst/>
          </a:prstGeom>
          <a:noFill/>
        </p:spPr>
        <p:txBody>
          <a:bodyPr wrap="square">
            <a:spAutoFit/>
          </a:bodyPr>
          <a:lstStyle/>
          <a:p>
            <a:pPr algn="ctr">
              <a:defRPr sz="1300" b="0">
                <a:solidFill>
                  <a:srgbClr val="0096C7"/>
                </a:solidFill>
                <a:latin typeface="Calibri"/>
              </a:defRPr>
            </a:pPr>
            <a:r>
              <a:t>github.com/Yash-Sukhdeve/stats-audio-deepfake-detection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