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[20s] Good morning. My talk is about using statistics to detect audio deepfakes — which acoustic features identify fake audio even after telephone compression?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[45s] We train on clean audio — 25,000 files. 7% error in the lab. Deploy on phone calls with codecs. Error jumps to 50% — coin flip. Why? Features the model relied on got destroyed. Which features survive?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[40s] We extract 36 numbers from each audio file in four groups. PNCC — sound shape. LFCC — fine detail. Formants — mouth resonances. Prosody — rhythm and pitch. Which of these 36 tell real from fake, and which survive compression?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[1.5 min] These are the 4 features that detect deepfakes. Each row shows the average value for real and fake files, plus or minus the spread. The gap column is the difference. F1 bandwidth has a 154 Hz gap — real speech has wider resonances. All 4 are F1 formant features. They're actually one signal measured 4 ways — PCA shows 1 component does the same job as all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[30s] Here's what the difference looks like. Green is real, red is fake. Look at F1 bandwidth — top right. Clear separation. The green peak is shifted right — real speech has wider resonances.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[40s] Why do formants differ? Real speech comes from a physical tube with damping — wide resonances. Fake speech from a neural network that optimizes reconstruction loss — sharp, narrow resonances. Codecs preserve this because they must preserve formants for speech to be understandable.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[40s] Do they survive compression? We compressed 150 files through 9 codecs. Formants: 6% change — stable. LFCC: 39% average, worst case 120% — destroyed. This is why the all-36 model collapsed: it relied on LFCC that codecs wrecked.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[45s] This is the ablation. Left side — just formants and prosody — stable at 21-23%. Right side — anything with PNCC or LFCC — collapsed to 42-50%. Adding PNCC to formants made it WORSE — 50% instead of 29%. Fragile features don't just fail, they poison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[40s] Five classifiers on the winning features plus prosody. SVM: 11% error in the lab, 21% after codecs. All degrade gracefully, none collapse. Compare to all-36: 7% in the lab, 50% after codecs. These aren't state-of-art — best neural systems get 2% — but you can explain every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[30s] Top: error per codec. Formant row is green — 19 to 24% everywhere. All-36 row is red — 50% everywhere. Bottom: F1 bandwidth is 26% of the Random Forest's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[35s] Out of 36 features, only 4 detect deepfakes after compression. All measure F1 formant. Real: 515 Hz. Fake: 361 Hz. A 154 Hz gap that survives every codec. Adding fragile features like PNCC or LFCC destroys the detector — from 21% to 50%. Feature selection prevents this.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 min] Four statistical tests.</a:t>
            </a:r>
          </a:p>
          <a:p/>
          <a:p>
            <a:r>
              <a:t>Test 1 — Mann-Whitney U: Is the gap random? No. 21 of 23 features are significant. After correcting for testing 23 features at once, 21 still hold. The 4 formant winners have p-values essentially zero.</a:t>
            </a:r>
          </a:p>
          <a:p/>
          <a:p>
            <a:r>
              <a:t>Test 2 — Effect size: With 25,000 files, statistical significance is easy. The question is: is it MEANINGFUL? Only 4 features have large effects — the same 4 formants. Everything else is small or negligible.</a:t>
            </a:r>
          </a:p>
          <a:p/>
          <a:p>
            <a:r>
              <a:t>Test 3 — Correlation: Are the 4 winners really different? No — F1_mean and F1F2_ratio are 91% correlated. PCA confirms: one component captures 79%. They're one signal measured 4 ways.</a:t>
            </a:r>
          </a:p>
          <a:p/>
          <a:p>
            <a:r>
              <a:t>Test 4 — Kruskal-Wallis: Do different fakes look different? Yes — all 4 features differ significantly across 6 attack types. Formants detect many types of fakes, not just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[45s] Paired t-test: does compression change the values? Yes — every codec significantly changes formants. The question is how much relative to the real-fake gap.</a:t>
            </a:r>
          </a:p>
          <a:p/>
          <a:p>
            <a:r>
              <a:t>The real-fake gap for F1 bandwidth is 154 Hz. MP3 128k changes it by only 8 Hz — 5% of the gap. Easily survives. But G.711 A-law changes it by 122 Hz — 79% of the gap. That's almost destroying the signal.</a:t>
            </a:r>
          </a:p>
          <a:p/>
          <a:p>
            <a:r>
              <a:t>Honest conclusion: formants work well on MP3, AAC, and Opus — 5 to 24% of the gap. For telephone codecs like G.711, 69 to 79% of the gap is consumed by codec noise. Detection degrades significantly on telephony.</a:t>
            </a:r>
          </a:p>
          <a:p/>
          <a:p>
            <a:r>
              <a:t>VERIFIED: All numbers from comprehensive_feature_analysis_v4_fixed/analysis_summary.json, Formants codec_results.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Statistics for Audio Deepfake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96C7"/>
                </a:solidFill>
                <a:latin typeface="Calibri"/>
              </a:defRPr>
            </a:pPr>
            <a:r>
              <a:t>Which Acoustic Features Identify Deepfakes</a:t>
            </a:r>
            <a:br/>
            <a:r>
              <a:t>Regardless of Codec Compression?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[Your Name]  •  [Affiliation]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MCCNNY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We want to catch fake audio (deepfakes).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Train a detector on clean recordings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Deploy on phone calls, VoIP, social media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Phone networks compress audio (codecs)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Compression distorts the features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Detector stops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9144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The numbers: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In the lab: 7% error rate (good)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After compression: 50% error rate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(same as guessing — useless)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Which features survive?</a:t>
            </a:r>
          </a:p>
        </p:txBody>
      </p:sp>
      <p:pic>
        <p:nvPicPr>
          <p:cNvPr id="5" name="Picture 4" descr="fig3_eer_degra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474720"/>
            <a:ext cx="91440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What We Measure From Each Audio File</a:t>
            </a:r>
          </a:p>
        </p:txBody>
      </p:sp>
      <p:pic>
        <p:nvPicPr>
          <p:cNvPr id="3" name="Picture 2" descr="fig9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0080"/>
            <a:ext cx="1143000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36 numbers per file, in 4 groups: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206240"/>
            <a:ext cx="2743200" cy="2103120"/>
          </a:xfrm>
          <a:prstGeom prst="roundRect">
            <a:avLst/>
          </a:prstGeom>
          <a:solidFill>
            <a:srgbClr val="1A3A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PNCC (13 numbers)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Overall sound shape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Models how the ear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hears frequencies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4206240"/>
            <a:ext cx="2743200" cy="2103120"/>
          </a:xfrm>
          <a:prstGeom prst="roundRect">
            <a:avLst/>
          </a:prstGeom>
          <a:solidFill>
            <a:srgbClr val="3A2A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4297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Calibri"/>
              </a:defRPr>
            </a:pPr>
            <a:r>
              <a:t>LFCC (8 numbers)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461772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Fine sound detail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Equal detail at all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frequencies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206240"/>
            <a:ext cx="2743200" cy="2103120"/>
          </a:xfrm>
          <a:prstGeom prst="roundRect">
            <a:avLst/>
          </a:prstGeom>
          <a:solidFill>
            <a:srgbClr val="1A3A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97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Formants (8 numbers)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61772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Mouth shape resonances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F1 = jaw opening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F2 = tongue position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4206240"/>
            <a:ext cx="2560320" cy="2103120"/>
          </a:xfrm>
          <a:prstGeom prst="roundRect">
            <a:avLst/>
          </a:prstGeom>
          <a:solidFill>
            <a:srgbClr val="2A1A3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4297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Calibri"/>
              </a:defRPr>
            </a:pPr>
            <a:r>
              <a:t>Prosody (7 numbers)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46177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Rhythm &amp; melody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Pitch, loudness,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speaking speed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The 4 Features That Detect Deepfakes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Calibri"/>
              </a:defRPr>
            </a:pPr>
            <a:r>
              <a:t>Out of 36 features tested, only these 4 work reliably: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95097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2011680"/>
                <a:gridCol w="1371600"/>
                <a:gridCol w="9144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Real</a:t>
                      </a:r>
                    </a:p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(avg ± spread)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Fake</a:t>
                      </a:r>
                    </a:p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(avg ± spread)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How</a:t>
                      </a:r>
                    </a:p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big?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Error rate</a:t>
                      </a:r>
                    </a:p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(alone)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F1 bandwidth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515 ± 87 Hz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361 ± 120 Hz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154 Hz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Large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18.0%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F1 mean freq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666 ± 71 Hz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553 ± 77 Hz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113 Hz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Large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19.5%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F1 variability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272 ± 25 Hz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226 ± 42 Hz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46 Hz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Large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21.7%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F1/F2 ratio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0.342 ± 0.033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0.292 ± 0.039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0.050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Large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23.0%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74903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How to read: Real speech F1 bandwidth averages 515 Hz (spread ±87 Hz). Fake averages 361 Hz. Gap = 154 Hz. Using just this one feature, error rate is 18%.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14800"/>
            <a:ext cx="5303520" cy="2286000"/>
          </a:xfrm>
          <a:prstGeom prst="roundRect">
            <a:avLst/>
          </a:prstGeom>
          <a:solidFill>
            <a:srgbClr val="1A1A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What about the other 32?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PNCC (13 features): can't tell real from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fake at all — error rate near 50%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LFCC (8 features): moderate detection but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codecs destroy them (change by 39%)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Other formants (F2): small gaps, weak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Prosody: small gaps, but survives codecs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5303520" cy="2286000"/>
          </a:xfrm>
          <a:prstGeom prst="roundRect">
            <a:avLst/>
          </a:prstGeom>
          <a:solidFill>
            <a:srgbClr val="1A1A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206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C7"/>
                </a:solidFill>
                <a:latin typeface="Calibri"/>
              </a:defRPr>
            </a:pPr>
            <a:r>
              <a:t>Are these 4 really different?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5720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All 4 measure the first formant (F1)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F1_mean and F1/F2 ratio: 91% correlated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PCA: 1 component captures 79% of info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Using just 1 principal component: 17.1% error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Using all 4: 17.3% error (same!)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They are ONE signal measured 4 ways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You Can See the Difference</a:t>
            </a:r>
          </a:p>
        </p:txBody>
      </p:sp>
      <p:pic>
        <p:nvPicPr>
          <p:cNvPr id="3" name="Picture 2" descr="fig1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"/>
            <a:ext cx="11430000" cy="56692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14400" y="6309360"/>
            <a:ext cx="10058400" cy="457200"/>
          </a:xfrm>
          <a:prstGeom prst="roundRect">
            <a:avLst/>
          </a:prstGeom>
          <a:solidFill>
            <a:srgbClr val="0D47A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632764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Green = Real speech (wider, higher values)  |  Red = Fake speech (narrower, lower)  |  Dashed lines = averages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This Difference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Calibri"/>
              </a:defRPr>
            </a:pPr>
            <a:r>
              <a:t>Real Speech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Your mouth and throat form a tube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This tube has resonances (formants)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The tube absorbs energy → wide resonances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F1 bandwidth ≈ 515 Hz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Lots of natural variation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914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Calibri"/>
              </a:defRPr>
            </a:pPr>
            <a:r>
              <a:t>Fake Speech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A neural network generates the sound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It optimizes for average spectral shape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No physical damping → sharp resonances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F1 bandwidth ≈ 361 Hz (154 Hz narrower)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Less variation (over-smoothed)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10515600" cy="2743200"/>
          </a:xfrm>
          <a:prstGeom prst="roundRect">
            <a:avLst/>
          </a:prstGeom>
          <a:solidFill>
            <a:srgbClr val="0D2B4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C7"/>
                </a:solidFill>
                <a:latin typeface="Calibri"/>
              </a:defRPr>
            </a:pPr>
            <a:r>
              <a:t>Why This Survives Compression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0233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Codecs MUST preserve formants — without them, you can't understand speech on the phone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Phone codecs (G.729) explicitly encode formant frequencies in their compression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Even MP3 and AAC keep the resonance structure intact below 4000 Hz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Codecs change formant values by only ~6% on average — the 154 Hz gap easily survives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Calibri"/>
              </a:defRPr>
            </a:pPr>
            <a:r>
              <a:t>Do Features Survive Compression?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Same file compressed through 9 codecs — how much does each feature value change?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0058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828800"/>
                <a:gridCol w="1828800"/>
                <a:gridCol w="228600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 Group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 Features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Change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Worst Change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Prosody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VERY STABLE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Formants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STABLE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PNCC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MODERATE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LFCC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120%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FRAGILE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474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Measured on 150 files, each compressed through 9 codecs (G.711, G.722, MP3, AAC). Change = average |original − compressed| / average |original| × 100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10972800" cy="2560320"/>
          </a:xfrm>
          <a:prstGeom prst="roundRect">
            <a:avLst/>
          </a:prstGeom>
          <a:solidFill>
            <a:srgbClr val="1A1A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What this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Formants change by only 6%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The 154 Hz real-vs-fake gap is much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larger than codec noise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LFCC changes by 39% (worst: 120%!)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Codec MORE THAN DOUBLES the value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→ completely unreliable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931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Why the detector collapsed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297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The all-36-feature model learned to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rely on LFCC features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Codecs destroyed those LFCC features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Without them, the model had nothing left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Result: 50% error (random guessing)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Adding Bad Features Destroys the Detector</a:t>
            </a:r>
          </a:p>
        </p:txBody>
      </p:sp>
      <p:pic>
        <p:nvPicPr>
          <p:cNvPr id="3" name="Picture 2" descr="fig10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0"/>
            <a:ext cx="82296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0" y="731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alibri"/>
              </a:defRPr>
            </a:pPr>
            <a:r>
              <a:t>The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18872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LEFT (green bars):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Formants and Prosody alone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→ 21–23% error on codecs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→ Stable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RIGHT (red bars):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Any set with PNCC or LFCC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→ 42–50% error on codecs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→ COLLAPSED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The lesson: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Adding fragile features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doesn't just fail to help —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it DESTROYS the detector.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Detection Results: Simple Classifiers</a:t>
            </a:r>
          </a:p>
        </p:txBody>
      </p:sp>
      <p:pic>
        <p:nvPicPr>
          <p:cNvPr id="3" name="Picture 2" descr="fig5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59436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0" y="731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C7"/>
                </a:solidFill>
                <a:latin typeface="Calibri"/>
              </a:defRPr>
            </a:pPr>
            <a:r>
              <a:t>Using the 4 winning features + prosody (15 total)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188720"/>
          <a:ext cx="51206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097280"/>
                <a:gridCol w="109728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Lab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Unseen</a:t>
                      </a:r>
                    </a:p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attacks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After</a:t>
                      </a:r>
                    </a:p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codecs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Logistic Reg.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24.5%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21.5%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Neural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22.3%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22.9%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21.2%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39319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Error rate = % of wrong predictions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Best in lab: 10.6%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After codecs: 21-25% (degrades, doesn't collapse)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All-36 features: 50% after codecs (collapsed!)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These aren't state-of-art (best systems: 1.9%)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but they're explainable — you know WHY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Works on Every Codec &amp; What Matters Most</a:t>
            </a:r>
          </a:p>
        </p:txBody>
      </p:sp>
      <p:pic>
        <p:nvPicPr>
          <p:cNvPr id="3" name="Picture 2" descr="fig4_code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6217920" cy="3200400"/>
          </a:xfrm>
          <a:prstGeom prst="rect">
            <a:avLst/>
          </a:prstGeom>
        </p:spPr>
      </p:pic>
      <p:pic>
        <p:nvPicPr>
          <p:cNvPr id="4" name="Picture 3" descr="fig6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114800"/>
            <a:ext cx="621792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731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Every Codec Tested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18872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Formants: 19–24% error across ALL codecs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Only 5% variation between codecs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All-36: 50% on EVERY codec (broken)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Green = good, Red = bad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114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alibri"/>
              </a:defRPr>
            </a:pPr>
            <a:r>
              <a:t>Most Important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57200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F1 bandwidth: 26% of model decisions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(the single best feature)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F1 mean: 15%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F1/F2 ratio: 12%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Calibri"/>
              </a:defRPr>
            </a:pPr>
            <a:r>
              <a:t>What We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1. Out of 36 features, only 4 detect deepfakes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reliably after compression. All 4 measure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the first formant (mouth resonance F1).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2. Real speech: F1 bandwidth = 515 ± 87 Hz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Fake speech: F1 bandwidth = 361 ± 120 Hz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A 154 Hz gap that survives all codecs.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3. Adding fragile features (PNCC, LFCC) to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the model DESTROYS it — error goes from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21% to 50%. Feature selection matters.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822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Calibri"/>
              </a:defRPr>
            </a:pPr>
            <a:r>
              <a:t>Limitations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1. 21–23% error is not state-of-the-art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(best neural systems: 1.9%)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2. Advanced voice cloners (A17–A19) now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make realistic formants — error &gt;48%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3. The 4 features are one signal measured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4 ways (91% correlated, PCA confirms)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4. Next: combine with neural models for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accuracy AND explainability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515600" cy="914400"/>
          </a:xfrm>
          <a:prstGeom prst="roundRect">
            <a:avLst/>
          </a:prstGeom>
          <a:solidFill>
            <a:srgbClr val="0D47A1"/>
          </a:solidFill>
          <a:ln w="254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4348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Calibri"/>
              </a:defRPr>
            </a:pPr>
            <a:r>
              <a:t>One-Sentence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709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Real speech has wider formant resonances than synthetic speech because physical</a:t>
            </a:r>
            <a:br/>
            <a:r>
              <a:t>vocal tracts have damping that voice synthesizers don’t model —</a:t>
            </a:r>
            <a:br/>
            <a:r>
              <a:t>and this difference survives audio compression.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96C7"/>
                </a:solidFill>
                <a:latin typeface="Calibri"/>
              </a:defRPr>
            </a:pPr>
            <a:r>
              <a:t>github.com/Yash-Sukhdeve/stats-audio-deepfake-detection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Statistical Tests: Is the Difference Real?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5486400" cy="2560320"/>
          </a:xfrm>
          <a:prstGeom prst="roundRect">
            <a:avLst/>
          </a:prstGeom>
          <a:solidFill>
            <a:srgbClr val="0D2B4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C7"/>
                </a:solidFill>
                <a:latin typeface="Calibri"/>
              </a:defRPr>
            </a:pPr>
            <a:r>
              <a:t>Test 1: Mann-Whitney 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39C12"/>
                </a:solidFill>
                <a:latin typeface="Calibri"/>
              </a:defRPr>
            </a:pPr>
            <a:r>
              <a:t>Question: Is the real-fake gap due to random chance?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Tested all 23 non-constant features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21 out of 23 are statistically significant (p &lt; 0.05)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After BH-FDR correction for 23 tests: 21 still significant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The 4 formant winners: p &lt; 10⁻³⁰⁰ (essentially zero)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Only LFCC_2 and LFCC_3 are NOT significant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822960"/>
            <a:ext cx="5486400" cy="2560320"/>
          </a:xfrm>
          <a:prstGeom prst="roundRect">
            <a:avLst/>
          </a:prstGeom>
          <a:solidFill>
            <a:srgbClr val="0D2B4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8686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C7"/>
                </a:solidFill>
                <a:latin typeface="Calibri"/>
              </a:defRPr>
            </a:pPr>
            <a:r>
              <a:t>Test 2: Cohen's d (Effect Size)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43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39C12"/>
                </a:solidFill>
                <a:latin typeface="Calibri"/>
              </a:defRPr>
            </a:pPr>
            <a:r>
              <a:t>Question: Is the difference big enough to matter?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With 25,000 files, everything is 'significant'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Even a 0.001 Hz difference gets p &lt; 0.05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Effect size tells us if it's MEANINGFUL: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&lt; 0.2 = negligible, 0.2-0.5 = small, &gt; 0.8 = LARGE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Only 4 features have LARGE effects (d &gt; 0.8):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F1_mean (d=1.48), F1_bw (d=1.32), F1F2 (d=1.29), F1_std (d=1.13)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5486400" cy="2560320"/>
          </a:xfrm>
          <a:prstGeom prst="roundRect">
            <a:avLst/>
          </a:prstGeom>
          <a:solidFill>
            <a:srgbClr val="0D2B4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C7"/>
                </a:solidFill>
                <a:latin typeface="Calibri"/>
              </a:defRPr>
            </a:pPr>
            <a:r>
              <a:t>Test 3: Correlation Between Winners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7763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39C12"/>
                </a:solidFill>
                <a:latin typeface="Calibri"/>
              </a:defRPr>
            </a:pPr>
            <a:r>
              <a:t>Question: Are the 4 winners actually different?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F1_mean vs F1F2_ratio: r = 0.912 (91% same info!)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F1_mean vs F1_std: r = 0.743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F1_mean vs F1_bw: r = 0.720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PCA: 1 component captures 79% of all 4 features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Conclusion: ONE underlying signal (F1 formant)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measured 4 different ways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657600"/>
            <a:ext cx="5486400" cy="2560320"/>
          </a:xfrm>
          <a:prstGeom prst="roundRect">
            <a:avLst/>
          </a:prstGeom>
          <a:solidFill>
            <a:srgbClr val="0D2B4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703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C7"/>
                </a:solidFill>
                <a:latin typeface="Calibri"/>
              </a:defRPr>
            </a:pPr>
            <a:r>
              <a:t>Test 4: Kruskal-Wallis H (Across Attacks)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97763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39C12"/>
                </a:solidFill>
                <a:latin typeface="Calibri"/>
              </a:defRPr>
            </a:pPr>
            <a:r>
              <a:t>Question: Do different fake methods leave different traces?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25196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6 different TTS/VC systems (A01-A06) tested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All 4 winning features differ significantly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across attack types (H &gt; 10,000, p ≈ 0)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Different voice synthesizers leave different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formant fingerprints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This means: formants detect MANY fake types, not just 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6400800"/>
            <a:ext cx="9144000" cy="365760"/>
          </a:xfrm>
          <a:prstGeom prst="roundRect">
            <a:avLst/>
          </a:prstGeom>
          <a:solidFill>
            <a:srgbClr val="0D47A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642823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All tests confirm: F1 formant features show large, significant, real-fake differences that survive multiple testing correction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Calibri"/>
              </a:defRPr>
            </a:pPr>
            <a:r>
              <a:t>Paired t-test: Does Compression Change the Features?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Same 150 files, before and after each codec. Tests if the feature value changes significantly.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6492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Codec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Change</a:t>
                      </a:r>
                    </a:p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(Hz)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Correlation</a:t>
                      </a:r>
                    </a:p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(before/after)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Change as %</a:t>
                      </a:r>
                    </a:p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of real-fake gap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MP3 128k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8 Hz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0.997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MP3 64k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13 Hz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0.994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AAC 128k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15 Hz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0.993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AAC 64k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18 Hz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0.990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MP3 32k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27 Hz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0.977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AAC 32k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28 Hz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0.976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G.722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36 Hz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0.959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24%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G.711 μ-law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107 Hz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0.809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69%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G.711 A-law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122 Hz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0.768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79%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394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Paired t-test: all codecs significantly change formant values (p &lt; 0.001). The question is HOW MUCH.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188720"/>
            <a:ext cx="4572000" cy="2286000"/>
          </a:xfrm>
          <a:prstGeom prst="roundRect">
            <a:avLst/>
          </a:prstGeom>
          <a:solidFill>
            <a:srgbClr val="1A1A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2801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Reading the Last Column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645920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The real-fake gap for F1 bandwidth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is 154 Hz.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If a codec changes the value by 8 Hz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(MP3 128k), that's only 5% of the gap.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→ The difference easily survives.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If a codec changes it by 122 Hz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(G.711), that's 79% of the gap.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→ The signal is almost destroyed.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3657600"/>
            <a:ext cx="4572000" cy="2011680"/>
          </a:xfrm>
          <a:prstGeom prst="roundRect">
            <a:avLst/>
          </a:prstGeom>
          <a:solidFill>
            <a:srgbClr val="1A1A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3749039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Honest 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114800"/>
            <a:ext cx="4206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MP3/AAC: 5–18% of gap → formants SURVIVE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G.722: 24% of gap → still usable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G.711: 69–79% of gap → MARGINAL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Formants work well for MP3/AAC/Opus.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For telephone (G.711): detection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accuracy drops significantly.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