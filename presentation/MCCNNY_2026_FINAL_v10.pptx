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[15s] "Good morning. I'm [Name]. My talk: which acoustic features identify deepfakes even after telephone compression?"</a:t>
            </a:r>
          </a:p>
          <a:p/>
          <a:p>
            <a:r>
              <a:t>TIMING: 15 seconds. Just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[40s] "We train on 25,000 clean files. 7% error in the lab. Deploy on phone calls with codecs. 50% error — coin flip."</a:t>
            </a:r>
          </a:p>
          <a:p/>
          <a:p>
            <a:r>
              <a:t>POINT to red bars: "All 36 features: 7% lab, 50% after codecs. Collapsed."</a:t>
            </a:r>
          </a:p>
          <a:p>
            <a:r>
              <a:t>POINT to green bars: "Formant features: 17% lab, 23% after codecs. Stable."</a:t>
            </a:r>
          </a:p>
          <a:p/>
          <a:p>
            <a:r>
              <a:t>IF ASKED "What's a codec?" → Compresses audio for transmission. G.711 for phones, MP3 for music, AAC for streaming.</a:t>
            </a:r>
          </a:p>
          <a:p>
            <a:r>
              <a:t>IF ASKED "What's EER?" → Equal Error Rate. Where false accepts = false rejects. 50% = random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[35s] "We extract 36 numbers per file. PNCC = sound shape. LFCC = fine detail. Formants = mouth resonances. Prosody = rhythm and pitch."</a:t>
            </a:r>
          </a:p>
          <a:p/>
          <a:p>
            <a:r>
              <a:t>IF ASKED "What's a formant?" → Your mouth+throat tube resonates at specific frequencies. F1 is the first resonance (~300-700 Hz), controlled by jaw opening.</a:t>
            </a:r>
          </a:p>
          <a:p>
            <a:r>
              <a:t>IF ASKED "Why 36?" → Each group from speech processing literature: PNCC (Kim &amp; Stern 2016), LFCC (Sahidullah 2015), Formants (Praat), Prosody (pYIN).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"Only 4 of 36 detect deepfakes. All measure the first formant."</a:t>
            </a:r>
          </a:p>
          <a:p/>
          <a:p>
            <a:r>
              <a:t>POINT to table: "F1 bandwidth: real = 515 ± 87 Hz, fake = 361 ± 120 Hz. Gap = 154 Hz. Using just this one feature: 18% error."</a:t>
            </a:r>
          </a:p>
          <a:p/>
          <a:p>
            <a:r>
              <a:t>POINT to bottom-left: "PNCC can't detect at all — 50% error. LFCC moderate but codecs destroy it."</a:t>
            </a:r>
          </a:p>
          <a:p>
            <a:r>
              <a:t>POINT to bottom-right: "The 4 winners are 91% correlated. PCA: 1 component = 17.1% error. All 4 = 17.3%. Same thing."</a:t>
            </a:r>
          </a:p>
          <a:p/>
          <a:p>
            <a:r>
              <a:t>IF ASKED "What's ± 87 Hz?" → Standard deviation. Most real files have F1_bw between ~430 and ~600 Hz. Lots of variation per file.</a:t>
            </a:r>
          </a:p>
          <a:p>
            <a:r>
              <a:t>IF ASKED "Why F1 not F2?" → F2 gaps are 20-55 Hz (small). F1 gaps are 46-154 Hz (large). Effect sizes: F1 &gt; 1.1, F2 &lt; 0.5.</a:t>
            </a:r>
          </a:p>
          <a:p>
            <a:r>
              <a:t>IF ASKED "If 91% correlated, why show 4?" → They emerged independently. The correlation is a finding — they're one signal measured 4 ways. Could use just F1_bw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[25s] "Four panels. Green = real, red = fake. Look at F1 bandwidth — top right. Clear separation."</a:t>
            </a:r>
          </a:p>
          <a:p/>
          <a:p>
            <a:r>
              <a:t>IF ASKED "Why overlap?" → Natural variation. Some speakers have narrow formants, some fakes have wide ones. That's why error is 18% not 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[35s] "Real speech: physical tube with damping. Wide resonances. 515 Hz."</a:t>
            </a:r>
          </a:p>
          <a:p>
            <a:r>
              <a:t>"Fake speech: neural network optimizing reconstruction loss. Sharp, narrow resonances. 361 Hz."</a:t>
            </a:r>
          </a:p>
          <a:p>
            <a:r>
              <a:t>"Codecs preserve this because they MUST preserve formants for speech intelligibility."</a:t>
            </a:r>
          </a:p>
          <a:p/>
          <a:p>
            <a:r>
              <a:t>IF ASKED "Is the vocoder explanation proven?" → Damping = established physics (Fant 1960). Vocoders produce narrow formants due to L1/L2 loss = our hypothesis, not yet cited. Most plausible explanation.</a:t>
            </a:r>
          </a:p>
          <a:p>
            <a:r>
              <a:t>IF ASKED "Do ALL codecs preserve formants?" → No. MP3/AAC: 5-18% of gap. G.711: 79% of gap. Next slide has exact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[35s] "150 files × 9 codecs. Prosody: 3% change. Formants: 6%. LFCC: 39%, worst 120%."</a:t>
            </a:r>
          </a:p>
          <a:p>
            <a:r>
              <a:t>"This is why the all-36 model collapsed — it relied on LFCC that codecs destroyed."</a:t>
            </a:r>
          </a:p>
          <a:p/>
          <a:p>
            <a:r>
              <a:t>IF ASKED "Why 150 files?" → 150 × 9 codecs = 1,350 ffmpeg operations. All 25,000 = 8 days. 150 gives ±1% precision on the % change.</a:t>
            </a:r>
          </a:p>
          <a:p>
            <a:r>
              <a:t>IF ASKED "How computed?" → Mean |original - compressed| / mean |original| × 100. Normalized MAE.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[40s] "Left: formants+prosody alone — 21-23% on codecs. Stable."</a:t>
            </a:r>
          </a:p>
          <a:p>
            <a:r>
              <a:t>"Right: anything with PNCC or LFCC — 42-50%. Collapsed."</a:t>
            </a:r>
          </a:p>
          <a:p>
            <a:r>
              <a:t>"PNCC+Formants: 50%. Adding PNCC DESTROYED it. Formants alone would be 29%."</a:t>
            </a:r>
          </a:p>
          <a:p/>
          <a:p>
            <a:r>
              <a:t>IF ASKED "Why does adding features hurt?" → SVM learns to use whatever separates training data. PNCC/LFCC separate clean data well. Model relies on them. Codecs destroy them. Model has nothing left.</a:t>
            </a:r>
          </a:p>
          <a:p>
            <a:r>
              <a:t>IF ASKED "Why don't trees collapse?" → Trees ignore irrelevant features by not splitting on them. SVMs use all dimensions. Random Forest with all-36 gets 22.5%, not 50%.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[35s] "Five classifiers. SVM: 11% lab, 17% unseen, 21% after codecs. All degrade gracefully."</a:t>
            </a:r>
          </a:p>
          <a:p>
            <a:r>
              <a:t>"Not state-of-art (best: 1.9%). But explainable — you know WHY each file was flagged."</a:t>
            </a:r>
          </a:p>
          <a:p/>
          <a:p>
            <a:r>
              <a:t>IF ASKED "Why 15 features not 4?" → Individually weak features can be jointly relevant (Guyon &amp; Elisseeff 2003 JMLR). RF Gini importance: the 11 'weak' features account for 74% of decisions collectively.</a:t>
            </a:r>
          </a:p>
          <a:p>
            <a:r>
              <a:t>IF ASKED "Why not deep learning?" → Deep learning gets 1.9% but is a black box. Our model says 'F1_bw = 340 Hz, below natural threshold.' That's forensic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[25s] "Top: formant row green (19-24%). All-36 row red (50%). Bottom: F1 bandwidth = 26% of RF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[30s] "Only 4 of 36 detect deepfakes after compression. All measure F1. Real: 515 Hz. Fake: 361 Hz. Confirmed by Mann-Whitney, large Cohen's d, Kruskal-Wallis across attacks."</a:t>
            </a:r>
          </a:p>
          <a:p>
            <a:r>
              <a:t>"Adding fragile features destroys the detector. Feature selection prevents this."</a:t>
            </a:r>
          </a:p>
          <a:p>
            <a:r>
              <a:t>"Thank you. Questions?"</a:t>
            </a:r>
          </a:p>
          <a:p/>
          <a:p>
            <a:r>
              <a:t>IF ASKED "Isn't this just p-hacking?" → That's why we report effect sizes. 21 features significant, but only 4 have d &gt; 0.8. Effect size filters the noise.</a:t>
            </a:r>
          </a:p>
          <a:p>
            <a:r>
              <a:t>IF ASKED "Selection bias?" → Yes, feature selection on training data. But evaluation on held-out sets. Ideally nested CV — acknowledged limitation.</a:t>
            </a:r>
          </a:p>
          <a:p>
            <a:r>
              <a:t>IF ASKED "PNCC is broken?" → Bug in normalization code. Isolated to PNCC. Other 23 features use independent code. Fix in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"Four statistical tests."</a:t>
            </a:r>
          </a:p>
          <a:p/>
          <a:p>
            <a:r>
              <a:t>TEST 1: "Mann-Whitney: 21 of 23 significant. After BH-FDR correction for 23 tests: still 21. Formant winners: p essentially zero."</a:t>
            </a:r>
          </a:p>
          <a:p/>
          <a:p>
            <a:r>
              <a:t>TEST 2: "Cohen's d: only 4 have LARGE effects. F1_mean d=1.48, F1_bw d=1.32. Everything else is small or negligible."</a:t>
            </a:r>
          </a:p>
          <a:p/>
          <a:p>
            <a:r>
              <a:t>TEST 3: "Correlation: F1_mean and F1F2_ratio 91% correlated. PCA: 1 component = 79%. One signal, four measurements."</a:t>
            </a:r>
          </a:p>
          <a:p/>
          <a:p>
            <a:r>
              <a:t>TEST 4: "Kruskal-Wallis: all 4 winners differ across 6 attack types. H &gt; 10,000. Formants detect many fake types."</a:t>
            </a:r>
          </a:p>
          <a:p/>
          <a:p>
            <a:r>
              <a:t>IF ASKED "Why Mann-Whitney not t-test?" → Some features non-normal. Mann-Whitney is rank-based, no assumptions. Same answer for our data, but more defensible.</a:t>
            </a:r>
          </a:p>
          <a:p>
            <a:r>
              <a:t>IF ASKED "What's BH-FDR?" → Controls false discovery proportion at 5% among rejections. Less conservative than Bonferroni but still rigorous.</a:t>
            </a:r>
          </a:p>
          <a:p>
            <a:r>
              <a:t>IF ASKED "What's Kruskal-Wallis?" → Non-parametric ANOVA. Tests if multiple groups differ. We compare 6 TTS/VC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[40s] "Paired t-test: same file before and after each codec."</a:t>
            </a:r>
          </a:p>
          <a:p/>
          <a:p>
            <a:r>
              <a:t>POINT to table: "MP3 128k: 8 Hz change, 5% of gap. Easily survives."</a:t>
            </a:r>
          </a:p>
          <a:p>
            <a:r>
              <a:t>"G.711 A-law: 122 Hz, 79% of gap. Almost destroys the signal."</a:t>
            </a:r>
          </a:p>
          <a:p/>
          <a:p>
            <a:r>
              <a:t>"Honest conclusion: formants work for MP3/AAC (social media). Marginal for G.711 (telephone)."</a:t>
            </a:r>
          </a:p>
          <a:p/>
          <a:p>
            <a:r>
              <a:t>IF ASKED "Why paired not unpaired?" → Same file compared to itself. Pairing removes between-file variance, isolates codec effect.</a:t>
            </a:r>
          </a:p>
          <a:p>
            <a:r>
              <a:t>IF ASKED "Is 79% acceptable?" → No. G.711 detection degrades significantly. Our 21% error rate includes G.711 files. Without them it would be lower.</a:t>
            </a:r>
          </a:p>
          <a:p/>
          <a:p>
            <a:r>
              <a:t>TOTAL SPEAKING TIME: ~7 min 30 sec + transitions = ~8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Statistics for Audio Deepfake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C7"/>
                </a:solidFill>
                <a:latin typeface="Calibri"/>
              </a:defRPr>
            </a:pPr>
            <a:r>
              <a:t>Which Acoustic Features Identify Deepfakes</a:t>
            </a:r>
            <a:br/>
            <a:r>
              <a:t>Regardless of Codec Compression?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[Your Name]  •  [Affiliation]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MCCNNY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We want to catch fake audio (deepfakes).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Train a detector on clean recordings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Deploy on phone calls, VoIP, social media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Phone networks compress audio (codecs)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Compression distorts the features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Detector stops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914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The numbers: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In the lab: 7% error rate (good)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After compression: 50% error rate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  (same as guessing — useless)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Which features survive?</a:t>
            </a:r>
          </a:p>
        </p:txBody>
      </p:sp>
      <p:pic>
        <p:nvPicPr>
          <p:cNvPr id="5" name="Picture 4" descr="fig3_eer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474720"/>
            <a:ext cx="91440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We Measure From Each Audio File</a:t>
            </a:r>
          </a:p>
        </p:txBody>
      </p:sp>
      <p:pic>
        <p:nvPicPr>
          <p:cNvPr id="3" name="Picture 2" descr="fig9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40080"/>
            <a:ext cx="1143000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36 numbers per file, in 4 groups: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206240"/>
            <a:ext cx="2743200" cy="2103120"/>
          </a:xfrm>
          <a:prstGeom prst="roundRect">
            <a:avLst/>
          </a:prstGeom>
          <a:solidFill>
            <a:srgbClr val="1A3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PNCC (13 numbers)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Overall sound shape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Models how the ear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hears frequencies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4206240"/>
            <a:ext cx="2743200" cy="2103120"/>
          </a:xfrm>
          <a:prstGeom prst="roundRect">
            <a:avLst/>
          </a:prstGeom>
          <a:solidFill>
            <a:srgbClr val="3A2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LFCC (8 numbers)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46177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Fine sound detail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Equal detail at all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frequencies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206240"/>
            <a:ext cx="2743200" cy="2103120"/>
          </a:xfrm>
          <a:prstGeom prst="roundRect">
            <a:avLst/>
          </a:prstGeom>
          <a:solidFill>
            <a:srgbClr val="1A3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Formants (8 numbers)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6177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Mouth shape resonances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F1 = jaw opening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F2 = tongue position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4206240"/>
            <a:ext cx="2560320" cy="2103120"/>
          </a:xfrm>
          <a:prstGeom prst="roundRect">
            <a:avLst/>
          </a:prstGeom>
          <a:solidFill>
            <a:srgbClr val="2A1A3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4297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Prosody (7 numbers)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6177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Rhythm &amp; melody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Pitch, loudness,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speaking speed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4 Features That Detect Deepfakes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Out of 36 features tested, only these 4 work reliably: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95097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011680"/>
                <a:gridCol w="1371600"/>
                <a:gridCol w="9144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Real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(avg ± spread)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Fake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(avg ± spread)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big?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Error rate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(alone)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F1 bandwidth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515 ± 87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361 ± 120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154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Large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18.0%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F1 mean freq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666 ± 71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553 ± 77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113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Large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19.5%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F1 variability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272 ± 25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226 ± 42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46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Large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21.7%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F1/F2 ratio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0.342 ± 0.033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0.292 ± 0.039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0.050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Large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23.0%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49039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How to read: Real speech F1 bandwidth averages 515 Hz (spread ±87 Hz). Fake averages 361 Hz. Gap = 154 Hz. Using just this one feature, error rate is 18%.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14800"/>
            <a:ext cx="5303520" cy="2286000"/>
          </a:xfrm>
          <a:prstGeom prst="roundRect">
            <a:avLst/>
          </a:prstGeom>
          <a:solidFill>
            <a:srgbClr val="1A1A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What about the other 32?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PNCC (13 features): can't tell real from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  fake at all — error rate near 50%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LFCC (8 features): moderate detection but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  codecs destroy them (change by 39%)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Other formants (F2): small gaps, weak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Prosody: small gaps, but survives codecs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303520" cy="2286000"/>
          </a:xfrm>
          <a:prstGeom prst="roundRect">
            <a:avLst/>
          </a:prstGeom>
          <a:solidFill>
            <a:srgbClr val="1A1A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C7"/>
                </a:solidFill>
                <a:latin typeface="Calibri"/>
              </a:defRPr>
            </a:pPr>
            <a:r>
              <a:t>Are these 4 really different?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All 4 measure the first formant (F1)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F1_mean and F1/F2 ratio: 91% correlated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PCA: 1 component captures 79% of info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Using just 1 principal component: 17.1% error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  Using all 4: 17.3% error (same!)</a:t>
            </a:r>
          </a:p>
          <a:p>
            <a:pPr>
              <a:spcAft>
                <a:spcPts val="300"/>
              </a:spcAft>
              <a:defRPr sz="1200">
                <a:solidFill>
                  <a:srgbClr val="CCCCCC"/>
                </a:solidFill>
                <a:latin typeface="Calibri"/>
              </a:defRPr>
            </a:pPr>
            <a:r>
              <a:t>• They are ONE signal measured 4 ways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You Can See the Difference</a:t>
            </a:r>
          </a:p>
        </p:txBody>
      </p:sp>
      <p:pic>
        <p:nvPicPr>
          <p:cNvPr id="3" name="Picture 2" descr="fig1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8640"/>
            <a:ext cx="11430000" cy="5669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14400" y="6309360"/>
            <a:ext cx="10058400" cy="457200"/>
          </a:xfrm>
          <a:prstGeom prst="roundRect">
            <a:avLst/>
          </a:prstGeom>
          <a:solidFill>
            <a:srgbClr val="0D47A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63276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Green = Real speech (wider, higher values)  |  Red = Fake speech (narrower, lower)  |  Dashed lines = averages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This Difference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Real Speech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Your mouth and throat form a tube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This tube has resonances (formants)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The tube absorbs energy → wide resonances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F1 bandwidth ≈ 515 Hz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Lots of natural variation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Fake Speech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 neural network generates the sound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It optimizes for average spectral shape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No physical damping → sharp resonances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F1 bandwidth ≈ 361 Hz (154 Hz narrower)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Less variation (over-smoothed)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515600" cy="2743200"/>
          </a:xfrm>
          <a:prstGeom prst="roundRect">
            <a:avLst/>
          </a:prstGeom>
          <a:solidFill>
            <a:srgbClr val="0D2B4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C7"/>
                </a:solidFill>
                <a:latin typeface="Calibri"/>
              </a:defRPr>
            </a:pPr>
            <a:r>
              <a:t>Why This Survives Compression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Codecs MUST preserve formants — without them, you can't understand speech on the phone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Phone codecs (G.729) explicitly encode formant frequencies in their compression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Even MP3 and AAC keep the resonance structure intact below 4000 Hz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Codecs change formant values by only ~6% on average — the 154 Hz gap easily survives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Calibri"/>
              </a:defRPr>
            </a:pPr>
            <a:r>
              <a:t>Do Features Survive Compression?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Same file compressed through 9 codecs — how much does each feature value change?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0058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828800"/>
                <a:gridCol w="1828800"/>
                <a:gridCol w="22860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 Group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 Features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Change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Worst Change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Prosody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3%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VERY STABLE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Formants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STABLE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PNCC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LFCC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39%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120%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FRAGILE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Measured on 150 files, each compressed through 9 codecs (G.711, G.722, MP3, AAC). Change = average |original − compressed| / average |original| × 100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10972800" cy="2560320"/>
          </a:xfrm>
          <a:prstGeom prst="roundRect">
            <a:avLst/>
          </a:prstGeom>
          <a:solidFill>
            <a:srgbClr val="1A1A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What this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Formants change by only 6%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The 154 Hz real-vs-fake gap is much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larger than codec noise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LFCC changes by 39% (worst: 120%!)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Codec MORE THAN DOUBLES the value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→ completely unreliable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31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Why the detector collapsed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97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The all-36-feature model learned to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rely on LFCC features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Codecs destroyed those LFCC features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Without them, the model had nothing left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Result: 50% error (random guessing)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Adding Bad Features Destroys the Detector</a:t>
            </a:r>
          </a:p>
        </p:txBody>
      </p:sp>
      <p:pic>
        <p:nvPicPr>
          <p:cNvPr id="3" name="Picture 2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8229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731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The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18872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LEFT (green bars):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Formants and Prosody alone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21–23% error on codecs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Stable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RIGHT (red bars):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Any set with PNCC or LFCC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42–50% error on codecs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COLLAPSED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The lesson: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Adding fragile features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doesn't just fail to help —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it DESTROYS the detector.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Results: Simple Classifiers</a:t>
            </a:r>
          </a:p>
        </p:txBody>
      </p:sp>
      <p:pic>
        <p:nvPicPr>
          <p:cNvPr id="3" name="Picture 2" descr="fig5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5943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731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C7"/>
                </a:solidFill>
                <a:latin typeface="Calibri"/>
              </a:defRPr>
            </a:pPr>
            <a:r>
              <a:t>Using the 4 winning features + prosody (15 total)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188720"/>
          <a:ext cx="51206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109728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Unseen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attacks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codecs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21.5%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Neural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22.3%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22.9%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31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Error rate = % of wrong predictions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Best in lab: 10.6%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After codecs: 21-25% (degrades, doesn't collapse)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All-36 features: 50% after codecs (collapsed!)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These aren't state-of-art (best systems: 1.9%)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but they're explainable — you know WHY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Works on Every Codec &amp; What Matters Most</a:t>
            </a:r>
          </a:p>
        </p:txBody>
      </p:sp>
      <p:pic>
        <p:nvPicPr>
          <p:cNvPr id="3" name="Picture 2" descr="fig4_code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6217920" cy="3200400"/>
          </a:xfrm>
          <a:prstGeom prst="rect">
            <a:avLst/>
          </a:prstGeom>
        </p:spPr>
      </p:pic>
      <p:pic>
        <p:nvPicPr>
          <p:cNvPr id="4" name="Picture 3" descr="fig6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114800"/>
            <a:ext cx="62179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7315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Every Codec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1887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Formants: 19–24% error across ALL codecs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Only 5% variation between codecs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All-36: 50% on EVERY codec (broken)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Green = good, Red = bad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Most Important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5720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F1 bandwidth: 26% of model decisions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(the single best feature)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F1 mean: 15%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F1/F2 ratio: 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1. Out of 36 features, only 4 detect deepfakes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reliably after compression. All 4 measure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the first formant (mouth resonance F1).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Real speech: F1 bandwidth = 515 ± 87 Hz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Fake speech: F1 bandwidth = 361 ± 120 Hz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A 154 Hz gap that survives all codecs.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Adding fragile features (PNCC, LFCC) to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the model DESTROYS it — error goes from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21% to 50%. Feature selection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39C12"/>
                </a:solidFill>
                <a:latin typeface="Calibri"/>
              </a:defRPr>
            </a:pPr>
            <a:r>
              <a:t>Limitations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1. 21–23% error is not state-of-the-art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(best neural systems: 1.9%)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Advanced voice cloners (A17–A19) now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make realistic formants — error &gt;48%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The 4 features are one signal measured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4 ways (91% correlated, PCA confirms)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4. Next: combine with neural models for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accuracy AND explainability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515600" cy="914400"/>
          </a:xfrm>
          <a:prstGeom prst="roundRect">
            <a:avLst/>
          </a:prstGeom>
          <a:solidFill>
            <a:srgbClr val="0D47A1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One-Sentence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Real speech has wider formant resonances than synthetic speech because physical</a:t>
            </a:r>
            <a:br/>
            <a:r>
              <a:t>vocal tracts have damping that voice synthesizers don’t model —</a:t>
            </a:r>
            <a:br/>
            <a:r>
              <a:t>and this difference survives audio compression.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96C7"/>
                </a:solidFill>
                <a:latin typeface="Calibri"/>
              </a:defRPr>
            </a:pPr>
            <a:r>
              <a:t>github.com/Yash-Sukhdeve/stats-audio-deepfake-detection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Statistical Tests: Is the Difference Real?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822960"/>
            <a:ext cx="5486400" cy="2560320"/>
          </a:xfrm>
          <a:prstGeom prst="roundRect">
            <a:avLst/>
          </a:prstGeom>
          <a:solidFill>
            <a:srgbClr val="0D2B4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C7"/>
                </a:solidFill>
                <a:latin typeface="Calibri"/>
              </a:defRPr>
            </a:pPr>
            <a:r>
              <a:t>Test 1: Mann-Whitney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39C12"/>
                </a:solidFill>
                <a:latin typeface="Calibri"/>
              </a:defRPr>
            </a:pPr>
            <a:r>
              <a:t>Question: Is the real-fake gap due to random chance?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Tested all 23 non-constant features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21 out of 23 are statistically significant (p &lt; 0.05)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After BH-FDR correction for 23 tests: 21 still significant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The 4 formant winners: p &lt; 10⁻³⁰⁰ (essentially zero)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Only LFCC_2 and LFCC_3 are NOT significant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822960"/>
            <a:ext cx="5486400" cy="2560320"/>
          </a:xfrm>
          <a:prstGeom prst="roundRect">
            <a:avLst/>
          </a:prstGeom>
          <a:solidFill>
            <a:srgbClr val="0D2B4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868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C7"/>
                </a:solidFill>
                <a:latin typeface="Calibri"/>
              </a:defRPr>
            </a:pPr>
            <a:r>
              <a:t>Test 2: Cohen's d (Effect Size)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43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39C12"/>
                </a:solidFill>
                <a:latin typeface="Calibri"/>
              </a:defRPr>
            </a:pPr>
            <a:r>
              <a:t>Question: Is the difference big enough to matter?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With 25,000 files, everything is 'significant'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Even a 0.001 Hz difference gets p &lt; 0.05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Effect size tells us if it's MEANINGFUL: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&lt; 0.2 = negligible, 0.2-0.5 = small, &gt; 0.8 = LARGE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Only 4 features have LARGE effects (d &gt; 0.8):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F1_mean (d=1.48), F1_bw (d=1.32), F1F2 (d=1.29), F1_std (d=1.13)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486400" cy="2560320"/>
          </a:xfrm>
          <a:prstGeom prst="roundRect">
            <a:avLst/>
          </a:prstGeom>
          <a:solidFill>
            <a:srgbClr val="0D2B4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C7"/>
                </a:solidFill>
                <a:latin typeface="Calibri"/>
              </a:defRPr>
            </a:pPr>
            <a:r>
              <a:t>Test 3: Correlation Between Winners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3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39C12"/>
                </a:solidFill>
                <a:latin typeface="Calibri"/>
              </a:defRPr>
            </a:pPr>
            <a:r>
              <a:t>Question: Are the 4 winners actually different?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519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F1_mean vs F1F2_ratio: r = 0.912 (91% same info!)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F1_mean vs F1_std: r = 0.743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F1_mean vs F1_bw: r = 0.720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PCA: 1 component captures 79% of all 4 features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Conclusion: ONE underlying signal (F1 formant)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measured 4 different ways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486400" cy="2560320"/>
          </a:xfrm>
          <a:prstGeom prst="roundRect">
            <a:avLst/>
          </a:prstGeom>
          <a:solidFill>
            <a:srgbClr val="0D2B4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C7"/>
                </a:solidFill>
                <a:latin typeface="Calibri"/>
              </a:defRPr>
            </a:pPr>
            <a:r>
              <a:t>Test 4: Kruskal-Wallis H (Across Attacks)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97763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39C12"/>
                </a:solidFill>
                <a:latin typeface="Calibri"/>
              </a:defRPr>
            </a:pPr>
            <a:r>
              <a:t>Question: Do different fake methods leave different traces?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2519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6 different TTS/VC systems (A01-A06) tested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All 4 winning features differ significantly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across attack types (H &gt; 10,000, p ≈ 0)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Different voice synthesizers leave different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formant fingerprints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This means: formants detect MANY fake types, not just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6400800"/>
            <a:ext cx="9144000" cy="365760"/>
          </a:xfrm>
          <a:prstGeom prst="roundRect">
            <a:avLst/>
          </a:prstGeom>
          <a:solidFill>
            <a:srgbClr val="0D47A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642823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All tests confirm: F1 formant features show large, significant, real-fake differences that survive multiple testing correction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Calibri"/>
              </a:defRPr>
            </a:pPr>
            <a:r>
              <a:t>Paired t-test: Does Compression Change the Features?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Same 150 files, before and after each codec. Tests if the feature value changes significantly.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6492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Change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(Hz)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(before/after)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 as %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of real-fake gap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MP3 128k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8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0.997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MP3 64k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13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0.994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AAC 128k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15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0.993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AAC 64k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18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0.990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MP3 32k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27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0.977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17%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AAC 32k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28 Hz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0.976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G.722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36 Hz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0.959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24%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G.711 μ-law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107 Hz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0.809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69%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G.711 A-law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122 Hz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0.768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79%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94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Paired t-test: all codecs significantly change formant values (p &lt; 0.001). The question is HOW MUCH.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188720"/>
            <a:ext cx="4572000" cy="2286000"/>
          </a:xfrm>
          <a:prstGeom prst="roundRect">
            <a:avLst/>
          </a:prstGeom>
          <a:solidFill>
            <a:srgbClr val="1A1A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2801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Reading the Last Column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64592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The real-fake gap for F1 bandwidth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is 154 Hz.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If a codec changes the value by 8 Hz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(MP3 128k), that's only 5% of the gap.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The difference easily survives.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If a codec changes it by 122 Hz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(G.711), that's 79% of the gap.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The signal is almost destroyed.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657600"/>
            <a:ext cx="4572000" cy="2011680"/>
          </a:xfrm>
          <a:prstGeom prst="roundRect">
            <a:avLst/>
          </a:prstGeom>
          <a:solidFill>
            <a:srgbClr val="1A1A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7490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Honest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1148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MP3/AAC: 5–18% of gap → formants SURVIVE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G.722: 24% of gap → still usable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G.711: 69–79% of gap → MARGINAL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Formants work well for MP3/AAC/Opus.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For telephone (G.711): detection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accuracy drops significantly.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