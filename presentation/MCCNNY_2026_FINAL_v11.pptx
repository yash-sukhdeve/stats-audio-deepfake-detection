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[15s] Good morning. My talk uses data mining to find acoustic features that identify deepfakes even after audio compression.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[40s] Step 1: the data. ASVspoof 2019 — international deepfake challenge. 25,380 files: 2,580 real, 22,800 fake. 9:1 ratio. 6 different TTS/VC systems. Clean studio audio.</a:t>
            </a:r>
          </a:p>
          <a:p/>
          <a:p>
            <a:r>
              <a:t>We extract 36 features per file: PNCC (13), LFCC (8), Formants (8), Prosody (7).</a:t>
            </a:r>
          </a:p>
          <a:p/>
          <a:p>
            <a:r>
              <a:t>Lab: 7% error using all 36. After codecs: 50%. Which features cause the collapse?</a:t>
            </a:r>
          </a:p>
          <a:p/>
          <a:p>
            <a:r>
              <a:t>IF ASKED "What's a codec?" → Compresses audio for transmission. G.711 for phones, MP3 for music.</a:t>
            </a:r>
          </a:p>
          <a:p>
            <a:r>
              <a:t>IF ASKED "Why 1:8.8 ratio?" → Challenge design. We use balanced class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[35s] Step 2: explore. Histograms of 4 formant features. Green = real, red = fake. F1 bandwidth shows clear separation.</a:t>
            </a:r>
          </a:p>
          <a:p/>
          <a:p>
            <a:r>
              <a:t>But eyeballing isn't science. We need: is it statistically significant? Is it big enough to matter? Are these 4 features redundant?</a:t>
            </a:r>
          </a:p>
          <a:p/>
          <a:p>
            <a:r>
              <a:t>IF ASKED "Why show distributions?" → Check data quality. Outliers? Normality? 21/23 near-normal.</a:t>
            </a:r>
          </a:p>
          <a:p>
            <a:r>
              <a:t>IF ASKED "What's ± 87?" → Standard deviation. Files range roughly 430-600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min] Step 3: formal tests.</a:t>
            </a:r>
          </a:p>
          <a:p/>
          <a:p>
            <a:r>
              <a:t>Mann-Whitney U: non-parametric, compares ranks. 21/23 significant after BH-FDR correction for 23 tests. The 4 formant winners: p essentially zero.</a:t>
            </a:r>
          </a:p>
          <a:p/>
          <a:p>
            <a:r>
              <a:t>Cohen's d: with 25,000 files, significance is easy. Effect size tells us if it MATTERS. Only 4 features have large effects (d &gt; 0.8). The chart shows all 23 ranked — green bars are the 4 large ones. Everything else is small or negligible.</a:t>
            </a:r>
          </a:p>
          <a:p/>
          <a:p>
            <a:r>
              <a:t>IF ASKED "Why Mann-Whitney?" → Non-parametric. Some features skewed. Same answer as t-test here but more defensible.</a:t>
            </a:r>
          </a:p>
          <a:p>
            <a:r>
              <a:t>IF ASKED "What's BH-FDR?" → Controls false discovery rate at 5% among rejections. Less conservative than Bonferroni.</a:t>
            </a:r>
          </a:p>
          <a:p>
            <a:r>
              <a:t>IF ASKED "Isn't 21/23 just because of large n?" → YES — that's why we need Cohen's d. Only 4 pass BOTH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min] The 4 winners with complete statistics.</a:t>
            </a:r>
          </a:p>
          <a:p/>
          <a:p>
            <a:r>
              <a:t>Table: real vs fake avg ± spread, gap, effect size, error rate alone. All verified from data.</a:t>
            </a:r>
          </a:p>
          <a:p/>
          <a:p>
            <a:r>
              <a:t>Correlation: F1_mean and F1F2_ratio 91% correlated. PCA: 1 component = 79%. They're one signal.</a:t>
            </a:r>
          </a:p>
          <a:p/>
          <a:p>
            <a:r>
              <a:t>Kruskal-Wallis: all 4 differ across 6 attack types (H &gt; 10,000). Formants detect many fakes, not just one.</a:t>
            </a:r>
          </a:p>
          <a:p/>
          <a:p>
            <a:r>
              <a:t>IF ASKED "If correlated, why show 4?" → They emerged independently. The correlation IS a finding.</a:t>
            </a:r>
          </a:p>
          <a:p>
            <a:r>
              <a:t>IF ASKED "What's Kruskal-Wallis?" → Non-parametric ANOVA. Tests if multiple groups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[50s] Step 4: codec test. Paired t-test — same file before and after. All changes are significant (p &lt; 0.001).</a:t>
            </a:r>
          </a:p>
          <a:p/>
          <a:p>
            <a:r>
              <a:t>The question: how much of the 154 Hz gap does compression consume? MP3 128k: 8 Hz, 5%. Survives. G.711: 122 Hz, 79%. Almost destroyed.</a:t>
            </a:r>
          </a:p>
          <a:p/>
          <a:p>
            <a:r>
              <a:t>Honest: formants work for streaming (MP3/AAC), acceptable for VoIP (Opus), marginal for telephone (G.711).</a:t>
            </a:r>
          </a:p>
          <a:p/>
          <a:p>
            <a:r>
              <a:t>IF ASKED "Why paired?" → Same file compared to itself. Isolates codec effect.</a:t>
            </a:r>
          </a:p>
          <a:p>
            <a:r>
              <a:t>IF ASKED "Is 79% acceptable?" → No. G.711 detection degrades. Our 21% error rate includes G.711 files.</a:t>
            </a:r>
          </a:p>
          <a:p>
            <a:r>
              <a:t>IF ASKED "Why 150 files?" → 150 × 9 codecs = 1,350 operations. All 25K = 8 days. 150 gives ±1%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[40s] Ablation: every combination tested. Formants/Prosody alone: 21-29% on codecs. Anything with PNCC/LFCC: 42-50%.</a:t>
            </a:r>
          </a:p>
          <a:p/>
          <a:p>
            <a:r>
              <a:t>PNCC+Formants = 50%. Formants alone = 29%. Adding PNCC destroyed it.</a:t>
            </a:r>
          </a:p>
          <a:p/>
          <a:p>
            <a:r>
              <a:t>IF ASKED "Why?" → SVM uses all features. Learns to rely on PNCC. Codecs destroy PNCC. Nothing left.</a:t>
            </a:r>
          </a:p>
          <a:p>
            <a:r>
              <a:t>IF ASKED "Trees?" → RF with all-36 gets 22.5%. Trees ignore bad features by not splitting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[35s] Five classifiers on 15 features. SVM: 11% lab, 21% codecs. All degrade gracefully.</a:t>
            </a:r>
          </a:p>
          <a:p/>
          <a:p>
            <a:r>
              <a:t>Compare: all-36 features = 7% lab, 50% codecs. Feature selection prevents collapse.</a:t>
            </a:r>
          </a:p>
          <a:p/>
          <a:p>
            <a:r>
              <a:t>IF ASKED "Why 15 not 4?" → Weak features contribute via interactions (Guyon &amp; Elisseeff 2003).</a:t>
            </a:r>
          </a:p>
          <a:p>
            <a:r>
              <a:t>IF ASKED "Why not deep learning?" → 1.9% vs 21%. We compete on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[25s] Heatmap: formants green (19-24%), all-36 red (50%). Feature importance: F1_bw = 26%.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[35s] Conclusions. 4 of 36 features detect deepfakes after compression. All F1 formant.</a:t>
            </a:r>
          </a:p>
          <a:p/>
          <a:p>
            <a:r>
              <a:t>Confirmed by 5 tests: Mann-Whitney, Cohen's d, Kruskal-Wallis, paired t-test, correlation + PCA.</a:t>
            </a:r>
          </a:p>
          <a:p/>
          <a:p>
            <a:r>
              <a:t>Real: 515 Hz. Fake: 361 Hz. Survives MP3/AAC. Marginal on G.711.</a:t>
            </a:r>
          </a:p>
          <a:p/>
          <a:p>
            <a:r>
              <a:t>Thank you. Questions?</a:t>
            </a:r>
          </a:p>
          <a:p/>
          <a:p>
            <a:r>
              <a:t>TOP Q&amp;As:</a:t>
            </a:r>
          </a:p>
          <a:p>
            <a:r>
              <a:t>"p-hacking?" → Effect sizes filter noise. Only 4 have d &gt; 0.8.</a:t>
            </a:r>
          </a:p>
          <a:p>
            <a:r>
              <a:t>"21% not good" → Trade accuracy for explainability.</a:t>
            </a:r>
          </a:p>
          <a:p>
            <a:r>
              <a:t>"Selection bias?" → Feature selection on train, evaluation on held-out. Acknowledged.</a:t>
            </a:r>
          </a:p>
          <a:p>
            <a:r>
              <a:t>"PNCC broken?" → Normalization bug. Isolated. Fix in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188720"/>
            <a:ext cx="10058400" cy="36576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33333"/>
                </a:solidFill>
                <a:latin typeface="Calibri"/>
              </a:defRPr>
            </a:pPr>
            <a:r>
              <a:t>Statistics for Audio</a:t>
            </a:r>
            <a:br/>
            <a:r>
              <a:t>Deepfake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3657600" cy="36576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A Data Mining Approach to Codec-Robust Acoustic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[Your Name]  |  [Affiliation]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73E8"/>
                </a:solidFill>
                <a:latin typeface="Calibri"/>
              </a:defRPr>
            </a:pPr>
            <a:r>
              <a:t>MCCNNY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Understanding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1_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4300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5221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Train detector on 25,380 clean studio files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Deploy on phone calls → codecs compress audio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Lab error: 7%   |   After codecs: 50% (coin flip)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Question: which of 36 features survive AND detect fakes?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652D"/>
                </a:solidFill>
                <a:latin typeface="Calibri"/>
              </a:defRPr>
            </a:pPr>
            <a:r>
              <a:t>Key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091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ASVspoof 2019 LA: international deepfake challenge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2,580 real + 22,800 fake (ratio 1:8.8)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6 different synthesis methods (A01–A06)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 All files: 16 kHz, mono, lossless FLAC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Exploring: Real vs Fake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4630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Green = real speech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Red = fake speech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Dashed = averages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F1 bandwidth shows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clear separation: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  Real: 515 ± 87 Hz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  Fake: 361 ± 120 Hz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  Gap: 154 Hz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But is this gap real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or random chance?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21/23 features are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near-normal (skew &lt; 1).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We use non-parametric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tests to be safe.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5760720"/>
            <a:ext cx="365760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5806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Calibri"/>
              </a:defRPr>
            </a:pPr>
            <a:r>
              <a:t>Next: formal statistical tests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Testing: Is the Difference Real and Meaningful?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5669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  <a:latin typeface="Calibri"/>
              </a:defRPr>
            </a:pPr>
            <a:r>
              <a:t>Mann-Whitney U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Is the real-fake gap statistically significant?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Non-parametric (no normality assumption needed)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23 features tested, corrected for multiple testing (BH-FDR)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Result: 21/23 significant after correction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The 4 formant winners: p ≈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669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  <a:latin typeface="Calibri"/>
              </a:defRPr>
            </a:pPr>
            <a:r>
              <a:t>Cohen's d Effect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Is the gap big enough to actually matter?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With 25,000 files, even tiny gaps are 'significant'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Effect size measures practical importance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Only 4 features have LARGE effects (d &gt; 0.8):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 F1_mean (1.48), F1_bw (1.32), F1F2 (1.29), F1_std (1.13)</a:t>
            </a:r>
          </a:p>
        </p:txBody>
      </p:sp>
      <p:pic>
        <p:nvPicPr>
          <p:cNvPr id="13" name="Picture 12" descr="fig12_effect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74720"/>
            <a:ext cx="114300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The 4 Winning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0058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1188720"/>
                <a:gridCol w="182880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 (avg ± spread)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Fake (avg ± spread)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size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 alone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F1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515 ± 87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361 ± 120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154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 = 1.32 (large)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18.0%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F1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666 ± 71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553 ± 77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113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 = 1.48 (large)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19.5%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F1 variability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272 ± 25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226 ± 42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 = 1.13 (large)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21.7%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F1/F2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0.342 ± 0.033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0.292 ± 0.039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 = 1.29 (large)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3200400"/>
            <a:ext cx="566928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t>Correlation Test: Are these 4 independent?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Pearson r between the 4 winners: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F1_mean vs F1F2_ratio:  r = 0.912 (91% same info!)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F1_mean vs F1_std:        r = 0.743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F1_mean vs F1_bw:         r = 0.720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PCA: 1 component captures 79% of variance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Classifier: PCA 1D = 17.1% error, all 4 = 17.3%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Conclusion: ONE signal (F1 formant) measured 4 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66928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46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t>Kruskal-Wallis: Do different fakes differ?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6 TTS/VC systems compared (non-parametric ANOVA):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F1_mean:     H = 10,985    p ≈ 0    YES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F1_bw:        H = 10,715    p ≈ 0    YES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F1_std:        H = 11,029    p ≈ 0    YES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F1F2_ratio:  H = 10,068    p ≈ 0    YES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Different synthesis systems leave different formant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fingerprints → formants detect MANY types of fakes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Codec Test: Does the Signal Survive Compression?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Paired t-test: same 150 files before and after each codec. How much of the 154 Hz gap does compression consume?</a:t>
            </a:r>
          </a:p>
        </p:txBody>
      </p:sp>
      <p:pic>
        <p:nvPicPr>
          <p:cNvPr id="6" name="Picture 5" descr="fig13_codec_vs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3152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371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Reading the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Each bar = one codec's effect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on formant features, as % of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the 154 Hz real-fake gap.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Green: &lt; 25% of gap consumed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→ Signal survives easily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Orange: 24% of gap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→ Still usable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Red: 69-79% of gap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→ Signal nearly destroyed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All changes are statistically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significant (paired t-test,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p &lt; 0.001 for every codec).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212080"/>
            <a:ext cx="114300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57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MP3/AAC: 5-18% of gap consumed → formants WORK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G.722: 24% → still usable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G.711 telephone: 69-79% → formants MARGINAL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257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221F"/>
                </a:solidFill>
                <a:latin typeface="Calibri"/>
              </a:defRPr>
            </a:pPr>
            <a:r>
              <a:t>Honest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577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C5221F"/>
                </a:solidFill>
                <a:latin typeface="Calibri"/>
              </a:defRPr>
            </a:pPr>
            <a:r>
              <a:t>•  For social media (MP3/AAC): good</a:t>
            </a:r>
          </a:p>
          <a:p>
            <a:pPr>
              <a:spcAft>
                <a:spcPts val="200"/>
              </a:spcAft>
              <a:defRPr sz="1200">
                <a:solidFill>
                  <a:srgbClr val="C5221F"/>
                </a:solidFill>
                <a:latin typeface="Calibri"/>
              </a:defRPr>
            </a:pPr>
            <a:r>
              <a:t>•  For VoIP (Opus/G.722): acceptable</a:t>
            </a:r>
          </a:p>
          <a:p>
            <a:pPr>
              <a:spcAft>
                <a:spcPts val="200"/>
              </a:spcAft>
              <a:defRPr sz="1200">
                <a:solidFill>
                  <a:srgbClr val="C5221F"/>
                </a:solidFill>
                <a:latin typeface="Calibri"/>
              </a:defRPr>
            </a:pPr>
            <a:r>
              <a:t>•  For telephone (G.711): detection degrades significantly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Ablation: What Happens With Bad Features?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0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82296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005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5221F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Left side (green):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Formants/Prosody alone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→ 21-29% after codecs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→ Stable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Right side (red):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PNCC or LFCC added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→ 42-50% after codecs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→ COLLAPSED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PNCC + Formants = 50%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Formants alone = 29%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Adding fragile features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doesn't just not help —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it DESTROYS the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Classifiers: 5 Models on the Robust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5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4114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00584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Unseen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attacks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codecs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Logistic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24.5%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21.5%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Neural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22.3%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22.9%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34747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•  15 features: 8 Formant + 7 Prosody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•  Fixed ASVspoof challenge splits (no cross-validation needed)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•  Balanced class weights for 9:1 imbalance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•  All models: 11-17% lab → 21-25% codecs (graceful)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•  Compare: all-36 = 7% lab → 50% codecs (collapse!)</a:t>
            </a:r>
          </a:p>
          <a:p>
            <a:pPr>
              <a:spcAft>
                <a:spcPts val="200"/>
              </a:spcAft>
              <a:defRPr sz="1100">
                <a:solidFill>
                  <a:srgbClr val="666666"/>
                </a:solidFill>
                <a:latin typeface="Calibri"/>
              </a:defRPr>
            </a:pPr>
            <a:r>
              <a:t>•  Not state-of-art (1.9%) but EXPLAINABLE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  <a:latin typeface="Calibri"/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Per-Codec Results &amp; Feature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0972800" cy="36576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cod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217920" cy="2743200"/>
          </a:xfrm>
          <a:prstGeom prst="rect">
            <a:avLst/>
          </a:prstGeom>
        </p:spPr>
      </p:pic>
      <p:pic>
        <p:nvPicPr>
          <p:cNvPr id="6" name="Picture 5" descr="fig6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31920"/>
            <a:ext cx="621792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0972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Calibri"/>
              </a:defRPr>
            </a:pPr>
            <a:r>
              <a:t>Heatmap: error rate per model per codec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Calibri"/>
              </a:defRPr>
            </a:pPr>
            <a:r>
              <a:t>•  Formants: 19-24% everywhere (green)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Calibri"/>
              </a:defRPr>
            </a:pPr>
            <a:r>
              <a:t>•  All-36: 50% everywhere (red)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Calibri"/>
              </a:defRPr>
            </a:pPr>
            <a:r>
              <a:t>•  Feature selection prevented collapse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0233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Calibri"/>
              </a:defRPr>
            </a:pPr>
            <a:r>
              <a:t>Random Forest feature importance: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Calibri"/>
              </a:defRPr>
            </a:pPr>
            <a:r>
              <a:t>•  F1 bandwidth: 26% of decisions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Calibri"/>
              </a:defRPr>
            </a:pPr>
            <a:r>
              <a:t>•  F1 mean: 15%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Calibri"/>
              </a:defRPr>
            </a:pPr>
            <a:r>
              <a:t>•  F1/F2 ratio: 12%</a:t>
            </a:r>
          </a:p>
          <a:p>
            <a:pPr>
              <a:spcAft>
                <a:spcPts val="200"/>
              </a:spcAft>
              <a:defRPr sz="1200">
                <a:solidFill>
                  <a:srgbClr val="666666"/>
                </a:solidFill>
                <a:latin typeface="Calibri"/>
              </a:defRPr>
            </a:pPr>
            <a:r>
              <a:t>•  Consistent with statistical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0972800" cy="36576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652D"/>
                </a:solidFill>
                <a:latin typeface="Calibri"/>
              </a:defRPr>
            </a:pPr>
            <a: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1. Out of 36 features, 4 detect deepfakes after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compression. All measure F1 formant.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2. Confirmed by: Mann-Whitney (p ≈ 0), Cohen's d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(large effects), Kruskal-Wallis (across attacks),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paired t-test (survives MP3/AAC, not G.711).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3. Adding fragile features DESTROYS the detector: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7% lab → 50% after codecs.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822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5221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1. 21-23% error (SOTA: 1.9% with neural models)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2. 4 features are 91% correlated — one signal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3. Advanced vocoders (A17-A19): error &gt; 48%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4. G.711 telephone: 79% of signal lost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10972800" cy="9144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Real speech has wider formant resonances (515 Hz) than synthetic speech (361 Hz)</a:t>
            </a:r>
            <a:br/>
            <a:r>
              <a:t>because physical vocal tracts have damping that synthesizers don’t model.</a:t>
            </a:r>
            <a:br/>
            <a:r>
              <a:t>This difference survives most audio compression methods.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73E8"/>
                </a:solidFill>
                <a:latin typeface="Calibri"/>
              </a:defRPr>
            </a:pPr>
            <a:r>
              <a:t>github.com/Yash-Sukhdeve/stats-audio-deepfake-detection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Calibri"/>
              </a:defRPr>
            </a:pPr>
            <a:r>
              <a:t>Mann &amp; Whitney (1947) | Cohen (1988) | Benjamini &amp; Hochberg (1995) | Kruskal &amp; Wallis (1952) | Kim &amp; Stern (2016) | Sahidullah et al. (2015)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