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[15s] Good morning. My talk: which acoustic features identify deepfakes after codec compression?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[30s] 25,380 files. 1:8.8 ratio. 36 features. Lab: 7%. Codecs: 50%. Which features survive?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[30s] 33/36 near-normal. 3 skewed. Decision: Mann-Whitney for all — works on both normal and non-normal.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[30s] Mann-Whitney: 33/36 significant after correction. Cohen's d: only 4 LARGE. Green bars = the winners.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[30s] Table: the 4 winners with avg ± spread. All F1 formant. Kruskal-Wallis: differ across 6 attacks.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[30s] F1_mean vs F1F2_ratio: r = 0.91. PCA: 1 component = 79%. They're one signal.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[30s] Real: physical tube, damping, wide resonances 515 Hz. Fake: neural net, no damping, narrow 361 Hz. Codecs preserve formants for intelligibility.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[30s] Paired test: same file before/after codec. MP3: 5% of 154 Hz gap. G.711: 79%. Formants survive streaming, marginal on telephone.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[30s] Formants alone: 21-29%. Add PNCC/LFCC: 42-55%. PNCC+Formants = 50%. Formants alone = 29%.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[30s] F1_bw alone: 18→24%. Formants+Prosody: 11→21%. All 36: 9→55% COLLAPSED. Best lab = worst deployed.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[30s] ROC curves: SVM best (11.4%). Right chart: the collapse. 11→21% vs 9→55%. Not SOTA but explainable.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[30s] 4 of 36. All F1. 515 vs 361 Hz. Survives codecs. Adding fragile features destroys it. Thank you.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5E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731520"/>
            <a:ext cx="100584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Statistics for Audio</a:t>
            </a:r>
            <a:endParaRPr lang="en-US" sz="4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Deepfake Detection</a:t>
            </a:r>
            <a:endParaRPr lang="en-US" sz="4800" dirty="0"/>
          </a:p>
        </p:txBody>
      </p:sp>
      <p:sp>
        <p:nvSpPr>
          <p:cNvPr id="3" name="Text 1"/>
          <p:cNvSpPr/>
          <p:nvPr/>
        </p:nvSpPr>
        <p:spPr>
          <a:xfrm>
            <a:off x="731520" y="3017520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Data Mining Approach to Finding Codec-Robust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Acoustic Indicators of Synthetic Speech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731520" y="457200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Presented By: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[Your Name], [Affiliation]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56692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4A017"/>
                </a:solidFill>
              </a:rPr>
              <a:t>MCCNNY 2026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5E3B"/>
                </a:solidFill>
              </a:rPr>
              <a:t>STEP 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36576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5E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Understanding the Data</a:t>
            </a:r>
            <a:endParaRPr lang="en-US" sz="3200" dirty="0"/>
          </a:p>
        </p:txBody>
      </p:sp>
      <p:pic>
        <p:nvPicPr>
          <p:cNvPr id="4" name="Image 0" descr="/home/lab2208/Documents/df_detection/docs/presentation_figures/step1_data_overview_v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097280"/>
            <a:ext cx="11430000" cy="36576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274320" y="4937760"/>
            <a:ext cx="11430000" cy="1371600"/>
          </a:xfrm>
          <a:prstGeom prst="roundRect">
            <a:avLst>
              <a:gd name="adj" fmla="val 6667"/>
            </a:avLst>
          </a:prstGeom>
          <a:solidFill>
            <a:srgbClr val="F5F5F0"/>
          </a:solidFill>
          <a:ln/>
        </p:spPr>
      </p:sp>
      <p:sp>
        <p:nvSpPr>
          <p:cNvPr id="6" name="Text 3"/>
          <p:cNvSpPr/>
          <p:nvPr/>
        </p:nvSpPr>
        <p:spPr>
          <a:xfrm>
            <a:off x="457200" y="5029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33333"/>
                </a:solidFill>
              </a:rPr>
              <a:t>25,380 files: 2,580 real + 22,800 fake (ratio 1:8.8)  |  36 features per file  |  ASVspoof 2019 LA challenge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333333"/>
                </a:solidFill>
              </a:rPr>
              <a:t>Problem: Lab error 7%  →  After codecs: 50% (coin flip). Which features survive AND detect fakes?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5E3B"/>
                </a:solidFill>
              </a:rPr>
              <a:t>STEP 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36576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5E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Distribution Does the Data Follow?</a:t>
            </a:r>
            <a:endParaRPr lang="en-US" sz="3200" dirty="0"/>
          </a:p>
        </p:txBody>
      </p:sp>
      <p:pic>
        <p:nvPicPr>
          <p:cNvPr id="4" name="Image 0" descr="/home/lab2208/Documents/df_detection/docs/presentation_figures/step2_distributions_v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005840"/>
            <a:ext cx="11430000" cy="484632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274320" y="5943600"/>
            <a:ext cx="11430000" cy="640080"/>
          </a:xfrm>
          <a:prstGeom prst="roundRect">
            <a:avLst>
              <a:gd name="adj" fmla="val 7143"/>
            </a:avLst>
          </a:prstGeom>
          <a:solidFill>
            <a:srgbClr val="E8F5E9"/>
          </a:solidFill>
          <a:ln/>
        </p:spPr>
      </p:sp>
      <p:sp>
        <p:nvSpPr>
          <p:cNvPr id="6" name="Text 3"/>
          <p:cNvSpPr/>
          <p:nvPr/>
        </p:nvSpPr>
        <p:spPr>
          <a:xfrm>
            <a:off x="457200" y="598932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5E3B"/>
                </a:solidFill>
              </a:rPr>
              <a:t>33/36 near-normal (skew &lt; 1).  3 skewed.  → Decision: Use Mann-Whitney (non-parametric) for all tests.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5E3B"/>
                </a:solidFill>
              </a:rPr>
              <a:t>STEP 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36576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5E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Is the Difference Real and Meaningful?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274320" y="1005840"/>
            <a:ext cx="5669280" cy="1645920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051560"/>
            <a:ext cx="5303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5E3B"/>
                </a:solidFill>
              </a:rPr>
              <a:t>Mann-Whitney U Test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57200" y="1325880"/>
            <a:ext cx="53035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333333"/>
                </a:solidFill>
              </a:rPr>
              <a:t>Non-parametric: no normality assumption needed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333333"/>
                </a:solidFill>
              </a:rPr>
              <a:t>Corrected for 36 tests (Benjamini-Hochberg FDR 5%)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b="1" dirty="0">
                <a:solidFill>
                  <a:srgbClr val="1B5E3B"/>
                </a:solidFill>
              </a:rPr>
              <a:t>Result: 33/36 significant. The 4 formant winners: p ≈ 0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6217920" y="1005840"/>
            <a:ext cx="5669280" cy="1645920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0" y="1051560"/>
            <a:ext cx="5303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5E3B"/>
                </a:solidFill>
              </a:rPr>
              <a:t>Cohen's d (Effect Size)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400800" y="1325880"/>
            <a:ext cx="53035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333333"/>
                </a:solidFill>
              </a:rPr>
              <a:t>25,000 files → even tiny gaps are 'significant'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333333"/>
                </a:solidFill>
              </a:rPr>
              <a:t>Effect size measures practical importance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b="1" dirty="0">
                <a:solidFill>
                  <a:srgbClr val="1B5E3B"/>
                </a:solidFill>
              </a:rPr>
              <a:t>Only 4 LARGE (d &gt; 0.8): F1_mean, F1_bw, F1F2, F1_std</a:t>
            </a:r>
            <a:endParaRPr lang="en-US" sz="1100" dirty="0"/>
          </a:p>
        </p:txBody>
      </p:sp>
      <p:pic>
        <p:nvPicPr>
          <p:cNvPr id="10" name="Image 0" descr="/home/lab2208/Documents/df_detection/docs/presentation_figures/step3_effect_sizes_v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2834640"/>
            <a:ext cx="11430000" cy="384048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5E3B"/>
                </a:solidFill>
              </a:rPr>
              <a:t>STEP 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36576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5E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4 Winning Features</a:t>
            </a:r>
            <a:endParaRPr lang="en-US" sz="3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09728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2011680"/>
                <a:gridCol w="2011680"/>
                <a:gridCol w="1188720"/>
                <a:gridCol w="1828800"/>
                <a:gridCol w="137160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Feature</a:t>
                      </a:r>
                      <a:endParaRPr lang="en-US" sz="14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5E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Real (avg ± spread)</a:t>
                      </a:r>
                      <a:endParaRPr lang="en-US" sz="14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5E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Fake (avg ± spread)</a:t>
                      </a:r>
                      <a:endParaRPr lang="en-US" sz="14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5E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Gap</a:t>
                      </a:r>
                      <a:endParaRPr lang="en-US" sz="14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5E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Effect size (d)</a:t>
                      </a:r>
                      <a:endParaRPr lang="en-US" sz="14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5E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Error rate alone</a:t>
                      </a:r>
                      <a:endParaRPr lang="en-US" sz="14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5E3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</a:rPr>
                        <a:t>F1 bandwidth</a:t>
                      </a:r>
                      <a:endParaRPr lang="en-US" sz="14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</a:rPr>
                        <a:t>515 ± 87 Hz</a:t>
                      </a:r>
                      <a:endParaRPr lang="en-US" sz="14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</a:rPr>
                        <a:t>361 ± 120 Hz</a:t>
                      </a:r>
                      <a:endParaRPr lang="en-US" sz="14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</a:rPr>
                        <a:t>154 Hz</a:t>
                      </a:r>
                      <a:endParaRPr lang="en-US" sz="14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</a:rPr>
                        <a:t>1.32 (LARGE)</a:t>
                      </a:r>
                      <a:endParaRPr lang="en-US" sz="14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</a:rPr>
                        <a:t>18.0%</a:t>
                      </a:r>
                      <a:endParaRPr lang="en-US" sz="14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</a:rPr>
                        <a:t>F1 mean freq</a:t>
                      </a:r>
                      <a:endParaRPr lang="en-US" sz="14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</a:rPr>
                        <a:t>666 ± 71 Hz</a:t>
                      </a:r>
                      <a:endParaRPr lang="en-US" sz="14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</a:rPr>
                        <a:t>553 ± 77 Hz</a:t>
                      </a:r>
                      <a:endParaRPr lang="en-US" sz="14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</a:rPr>
                        <a:t>113 Hz</a:t>
                      </a:r>
                      <a:endParaRPr lang="en-US" sz="14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</a:rPr>
                        <a:t>1.48 (LARGE)</a:t>
                      </a:r>
                      <a:endParaRPr lang="en-US" sz="14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</a:rPr>
                        <a:t>19.5%</a:t>
                      </a:r>
                      <a:endParaRPr lang="en-US" sz="14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</a:rPr>
                        <a:t>F1 variability</a:t>
                      </a:r>
                      <a:endParaRPr lang="en-US" sz="14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</a:rPr>
                        <a:t>272 ± 25 Hz</a:t>
                      </a:r>
                      <a:endParaRPr lang="en-US" sz="14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</a:rPr>
                        <a:t>226 ± 42 Hz</a:t>
                      </a:r>
                      <a:endParaRPr lang="en-US" sz="14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</a:rPr>
                        <a:t>46 Hz</a:t>
                      </a:r>
                      <a:endParaRPr lang="en-US" sz="14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</a:rPr>
                        <a:t>1.13 (LARGE)</a:t>
                      </a:r>
                      <a:endParaRPr lang="en-US" sz="14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</a:rPr>
                        <a:t>21.7%</a:t>
                      </a:r>
                      <a:endParaRPr lang="en-US" sz="14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</a:rPr>
                        <a:t>F1/F2 ratio</a:t>
                      </a:r>
                      <a:endParaRPr lang="en-US" sz="14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</a:rPr>
                        <a:t>0.342 ± 0.033</a:t>
                      </a:r>
                      <a:endParaRPr lang="en-US" sz="14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</a:rPr>
                        <a:t>0.292 ± 0.039</a:t>
                      </a:r>
                      <a:endParaRPr lang="en-US" sz="14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</a:rPr>
                        <a:t>0.050</a:t>
                      </a:r>
                      <a:endParaRPr lang="en-US" sz="14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</a:rPr>
                        <a:t>1.29 (LARGE)</a:t>
                      </a:r>
                      <a:endParaRPr lang="en-US" sz="14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</a:rPr>
                        <a:t>23.0%</a:t>
                      </a:r>
                      <a:endParaRPr lang="en-US" sz="14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41148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5E3B"/>
                </a:solidFill>
              </a:rPr>
              <a:t>All 4 measure the first formant (F1) — the first resonance of the vocal tract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B5E3B"/>
                </a:solidFill>
              </a:rPr>
              <a:t>Real speech has WIDER, HIGHER, MORE VARIABLE F1 resonances than fake speech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457200" y="50292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</a:rPr>
              <a:t>Kruskal-Wallis test across 6 attack types: all 4 features differ significantly (H &gt; 10,000, p ≈ 0)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1B5E3B"/>
                </a:solidFill>
              </a:rPr>
              <a:t>→ These features detect MANY types of fakes, not just one specific system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5E3B"/>
                </a:solidFill>
              </a:rPr>
              <a:t>STEP 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36576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5E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Are the 4 Winners Redundant?</a:t>
            </a:r>
            <a:endParaRPr lang="en-US" sz="3200" dirty="0"/>
          </a:p>
        </p:txBody>
      </p:sp>
      <p:pic>
        <p:nvPicPr>
          <p:cNvPr id="4" name="Image 0" descr="/home/lab2208/Documents/df_detection/docs/presentation_figures/step4_correlation_pca_v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005840"/>
            <a:ext cx="11430000" cy="530352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274320" y="6400800"/>
            <a:ext cx="11430000" cy="274320"/>
          </a:xfrm>
          <a:prstGeom prst="roundRect">
            <a:avLst>
              <a:gd name="adj" fmla="val 16667"/>
            </a:avLst>
          </a:prstGeom>
          <a:solidFill>
            <a:srgbClr val="E8F5E9"/>
          </a:solidFill>
          <a:ln/>
        </p:spPr>
      </p:sp>
      <p:sp>
        <p:nvSpPr>
          <p:cNvPr id="6" name="Text 3"/>
          <p:cNvSpPr/>
          <p:nvPr/>
        </p:nvSpPr>
        <p:spPr>
          <a:xfrm>
            <a:off x="457200" y="6400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5E3B"/>
                </a:solidFill>
              </a:rPr>
              <a:t>Conclusion: ONE signal (F1 formant characteristics) measured 4 different ways. PCA 1 component = 79%.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5E3B"/>
                </a:solidFill>
              </a:rPr>
              <a:t>STEP 4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36576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5E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 Do Formants Differ Between Real and Fake?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5029200" cy="4114800"/>
          </a:xfrm>
          <a:prstGeom prst="roundRect">
            <a:avLst>
              <a:gd name="adj" fmla="val 3333"/>
            </a:avLst>
          </a:prstGeom>
          <a:solidFill>
            <a:srgbClr val="E8F5E9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28016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5E3B"/>
                </a:solidFill>
              </a:rPr>
              <a:t>Real Speech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1737360"/>
            <a:ext cx="457200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</a:rPr>
              <a:t>Your mouth and throat form a tube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</a:rPr>
              <a:t>This tube has resonances (formants)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</a:rPr>
              <a:t>The tube absorbs energy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333333"/>
                </a:solidFill>
              </a:rPr>
              <a:t>→ wide resonances (515 Hz)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</a:rPr>
              <a:t>High natural variation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217920" y="1188720"/>
            <a:ext cx="5029200" cy="4114800"/>
          </a:xfrm>
          <a:prstGeom prst="roundRect">
            <a:avLst>
              <a:gd name="adj" fmla="val 3333"/>
            </a:avLst>
          </a:prstGeom>
          <a:solidFill>
            <a:srgbClr val="FFEBEE"/>
          </a:solidFill>
          <a:ln/>
        </p:spPr>
      </p:sp>
      <p:sp>
        <p:nvSpPr>
          <p:cNvPr id="8" name="Text 6"/>
          <p:cNvSpPr/>
          <p:nvPr/>
        </p:nvSpPr>
        <p:spPr>
          <a:xfrm>
            <a:off x="6492240" y="128016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5221F"/>
                </a:solidFill>
              </a:rPr>
              <a:t>Fake Speech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6492240" y="1737360"/>
            <a:ext cx="457200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</a:rPr>
              <a:t>A neural network generates sound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</a:rPr>
              <a:t>It optimizes for average shape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</a:rPr>
              <a:t>No physical damping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333333"/>
                </a:solidFill>
              </a:rPr>
              <a:t>→ sharp, narrow resonances (361 Hz)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</a:rPr>
              <a:t>Over-smoothed, less variation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57200" y="5577840"/>
            <a:ext cx="10972800" cy="914400"/>
          </a:xfrm>
          <a:prstGeom prst="roundRect">
            <a:avLst>
              <a:gd name="adj" fmla="val 10000"/>
            </a:avLst>
          </a:prstGeom>
          <a:solidFill>
            <a:srgbClr val="E8F0FE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" y="566928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A73E8"/>
                </a:solidFill>
              </a:rPr>
              <a:t>Codecs MUST preserve formants — without them, you can't understand speech on the phone. That's why this difference survives compression.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5E3B"/>
                </a:solidFill>
              </a:rPr>
              <a:t>STEP 4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36576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5E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Paired Codec Test: Does the Signal Survive?</a:t>
            </a:r>
            <a:endParaRPr lang="en-US" sz="3000" dirty="0"/>
          </a:p>
        </p:txBody>
      </p:sp>
      <p:pic>
        <p:nvPicPr>
          <p:cNvPr id="4" name="Image 0" descr="/home/lab2208/Documents/df_detection/docs/presentation_figures/step5_codec_robustness_v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005840"/>
            <a:ext cx="11430000" cy="50292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274320" y="6126480"/>
            <a:ext cx="11430000" cy="457200"/>
          </a:xfrm>
          <a:prstGeom prst="roundRect">
            <a:avLst>
              <a:gd name="adj" fmla="val 10000"/>
            </a:avLst>
          </a:prstGeom>
          <a:solidFill>
            <a:srgbClr val="F5F5F0"/>
          </a:solidFill>
          <a:ln/>
        </p:spPr>
      </p:sp>
      <p:sp>
        <p:nvSpPr>
          <p:cNvPr id="6" name="Text 3"/>
          <p:cNvSpPr/>
          <p:nvPr/>
        </p:nvSpPr>
        <p:spPr>
          <a:xfrm>
            <a:off x="457200" y="6144768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33333"/>
                </a:solidFill>
              </a:rPr>
              <a:t>150 files × 9 codecs, paired design  |  MP3/AAC: 5-18% of gap (survives)  |  G.711: 69-79% (marginal)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5E3B"/>
                </a:solidFill>
              </a:rPr>
              <a:t>STEP 5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36576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5E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Ablation: Adding Bad Features Destroys Detection</a:t>
            </a:r>
            <a:endParaRPr lang="en-US" sz="2800" dirty="0"/>
          </a:p>
        </p:txBody>
      </p:sp>
      <p:pic>
        <p:nvPicPr>
          <p:cNvPr id="4" name="Image 0" descr="/home/lab2208/Documents/df_detection/docs/presentation_figures/fig10_abl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2880" y="914400"/>
            <a:ext cx="8229600" cy="47548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8686800" y="914400"/>
            <a:ext cx="3200400" cy="4754880"/>
          </a:xfrm>
          <a:prstGeom prst="roundRect">
            <a:avLst>
              <a:gd name="adj" fmla="val 2857"/>
            </a:avLst>
          </a:prstGeom>
          <a:solidFill>
            <a:srgbClr val="F5F5F0"/>
          </a:solidFill>
          <a:ln/>
        </p:spPr>
      </p:sp>
      <p:sp>
        <p:nvSpPr>
          <p:cNvPr id="6" name="Text 3"/>
          <p:cNvSpPr/>
          <p:nvPr/>
        </p:nvSpPr>
        <p:spPr>
          <a:xfrm>
            <a:off x="8869680" y="1005840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5221F"/>
                </a:solidFill>
              </a:rPr>
              <a:t>Key Finding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8869680" y="1371600"/>
            <a:ext cx="2834640" cy="411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33333"/>
                </a:solidFill>
              </a:rPr>
              <a:t>Left (green):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</a:rPr>
              <a:t>Formants/Prosody alone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</a:rPr>
              <a:t>→ 21-29% after codecs (stable)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333333"/>
                </a:solidFill>
              </a:rPr>
              <a:t>Right (red):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</a:rPr>
              <a:t>Any set with PNCC or LFCC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C5221F"/>
                </a:solidFill>
              </a:rPr>
              <a:t>→ 42-55% COLLAPSED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i="1" dirty="0">
                <a:solidFill>
                  <a:srgbClr val="333333"/>
                </a:solidFill>
              </a:rPr>
              <a:t>Adding fragile features doesn't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C5221F"/>
                </a:solidFill>
              </a:rPr>
              <a:t>just fail — it DESTROYS the system.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5E3B"/>
                </a:solidFill>
              </a:rPr>
              <a:t>STEP 6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36576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5E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Classifiers: Which Feature Set Works Best?</a:t>
            </a:r>
            <a:endParaRPr lang="en-US" sz="28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188720"/>
          <a:ext cx="100584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1371600"/>
                <a:gridCol w="1828800"/>
                <a:gridCol w="1828800"/>
                <a:gridCol w="1371600"/>
              </a:tblGrid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Feature Set</a:t>
                      </a:r>
                      <a:endParaRPr lang="en-US" sz="1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5E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# Features</a:t>
                      </a:r>
                      <a:endParaRPr lang="en-US" sz="1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5E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Lab Error</a:t>
                      </a:r>
                      <a:endParaRPr lang="en-US" sz="1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5E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After Codecs</a:t>
                      </a:r>
                      <a:endParaRPr lang="en-US" sz="1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5E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Collapse?</a:t>
                      </a:r>
                      <a:endParaRPr lang="en-US" sz="1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5E3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</a:rPr>
                        <a:t>F1_bw alone</a:t>
                      </a:r>
                      <a:endParaRPr lang="en-US" sz="1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1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</a:rPr>
                        <a:t>18.0%</a:t>
                      </a:r>
                      <a:endParaRPr lang="en-US" sz="1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</a:rPr>
                        <a:t>24.3%</a:t>
                      </a:r>
                      <a:endParaRPr lang="en-US" sz="1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</a:rPr>
                        <a:t>No</a:t>
                      </a:r>
                      <a:endParaRPr lang="en-US" sz="1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</a:rPr>
                        <a:t>Top 4 F1 features</a:t>
                      </a:r>
                      <a:endParaRPr lang="en-US" sz="1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</a:rPr>
                        <a:t>4</a:t>
                      </a:r>
                      <a:endParaRPr lang="en-US" sz="1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</a:rPr>
                        <a:t>17.3%</a:t>
                      </a:r>
                      <a:endParaRPr lang="en-US" sz="1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</a:rPr>
                        <a:t>23.2%</a:t>
                      </a:r>
                      <a:endParaRPr lang="en-US" sz="1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</a:rPr>
                        <a:t>No</a:t>
                      </a:r>
                      <a:endParaRPr lang="en-US" sz="1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</a:rPr>
                        <a:t>Formants + Prosody</a:t>
                      </a:r>
                      <a:endParaRPr lang="en-US" sz="1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</a:rPr>
                        <a:t>15</a:t>
                      </a:r>
                      <a:endParaRPr lang="en-US" sz="1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</a:rPr>
                        <a:t>11.4%</a:t>
                      </a:r>
                      <a:endParaRPr lang="en-US" sz="1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</a:rPr>
                        <a:t>21.5%</a:t>
                      </a:r>
                      <a:endParaRPr lang="en-US" sz="1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</a:rPr>
                        <a:t>No</a:t>
                      </a:r>
                      <a:endParaRPr lang="en-US" sz="1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C5221F"/>
                          </a:solidFill>
                        </a:rPr>
                        <a:t>All 36 features</a:t>
                      </a:r>
                      <a:endParaRPr lang="en-US" sz="1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C5221F"/>
                          </a:solidFill>
                        </a:rPr>
                        <a:t>36</a:t>
                      </a:r>
                      <a:endParaRPr lang="en-US" sz="1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C5221F"/>
                          </a:solidFill>
                        </a:rPr>
                        <a:t>9.2%</a:t>
                      </a:r>
                      <a:endParaRPr lang="en-US" sz="1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C5221F"/>
                          </a:solidFill>
                        </a:rPr>
                        <a:t>54.8%</a:t>
                      </a:r>
                      <a:endParaRPr lang="en-US" sz="1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C5221F"/>
                          </a:solidFill>
                        </a:rPr>
                        <a:t>YES!</a:t>
                      </a:r>
                      <a:endParaRPr lang="en-US" sz="1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914400" y="41148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5221F"/>
                </a:solidFill>
              </a:rPr>
              <a:t>Best in lab (9%) = worst deployed (55%). Feature selection prevents catastrophic failure.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914400" y="475488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77777"/>
                </a:solidFill>
              </a:rPr>
              <a:t>Using SVM (RBF kernel, balanced class weights) on fixed ASVspoof challenge splits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5E3B"/>
                </a:solidFill>
              </a:rPr>
              <a:t>STEP 6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36576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5E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 Classifiers + The Collapse</a:t>
            </a:r>
            <a:endParaRPr lang="en-US" sz="2800" dirty="0"/>
          </a:p>
        </p:txBody>
      </p:sp>
      <p:pic>
        <p:nvPicPr>
          <p:cNvPr id="4" name="Image 0" descr="/home/lab2208/Documents/df_detection/docs/presentation_figures/step6_classifiers_v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005840"/>
            <a:ext cx="11430000" cy="50292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274320" y="6126480"/>
            <a:ext cx="11430000" cy="457200"/>
          </a:xfrm>
          <a:prstGeom prst="roundRect">
            <a:avLst>
              <a:gd name="adj" fmla="val 10000"/>
            </a:avLst>
          </a:prstGeom>
          <a:solidFill>
            <a:srgbClr val="FFEBEE"/>
          </a:solidFill>
          <a:ln/>
        </p:spPr>
      </p:sp>
      <p:sp>
        <p:nvSpPr>
          <p:cNvPr id="6" name="Text 3"/>
          <p:cNvSpPr/>
          <p:nvPr/>
        </p:nvSpPr>
        <p:spPr>
          <a:xfrm>
            <a:off x="457200" y="6144768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33333"/>
                </a:solidFill>
              </a:rPr>
              <a:t>Formants+Prosody: 11% → 21% (graceful)  |  All 36: 9% → 55% (COLLAPSED)  |  Not SOTA (1.9%) but explainable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B5E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Conclusions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5303520" cy="3474720"/>
          </a:xfrm>
          <a:prstGeom prst="roundRect">
            <a:avLst>
              <a:gd name="adj" fmla="val 2632"/>
            </a:avLst>
          </a:prstGeom>
          <a:solidFill>
            <a:srgbClr val="1B7E4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9601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4A017"/>
                </a:solidFill>
              </a:rPr>
              <a:t>What We Found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1280160"/>
            <a:ext cx="493776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1. Out of 36 features, 4 detect deepfakes after compression. All measure F1 formant.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2. Confirmed by Mann-Whitney, Cohen's d, Kruskal-Wallis, paired codec test, PCA.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3. Adding fragile features DESTROYS the detector: 9% → 55%.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217920" y="914400"/>
            <a:ext cx="5303520" cy="3474720"/>
          </a:xfrm>
          <a:prstGeom prst="roundRect">
            <a:avLst>
              <a:gd name="adj" fmla="val 2632"/>
            </a:avLst>
          </a:prstGeom>
          <a:solidFill>
            <a:srgbClr val="1B7E4B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0" y="9601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9999"/>
                </a:solidFill>
              </a:rPr>
              <a:t>Limitations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400800" y="1280160"/>
            <a:ext cx="493776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1. 21% error — SOTA neural systems: 1.9%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2. 4 features are 91% correlated — one signal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3. Advanced vocoders (A17-A19): error &gt; 48%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4. G.711 telephone: 79% of signal lost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7200" y="4572000"/>
            <a:ext cx="10972800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466344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B5E3B"/>
                </a:solidFill>
              </a:rPr>
              <a:t>Real speech: F1 bandwidth = 515 ± 87 Hz  |  Fake speech: 361 ± 120 Hz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1B5E3B"/>
                </a:solidFill>
              </a:rPr>
              <a:t>Gap: 154 Hz  |  Survives MP3/AAC  |  Physical cause: vocal tract damping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57200" y="59436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D4A017"/>
                </a:solidFill>
              </a:rPr>
              <a:t>github.com/Yash-Sukhdeve/stats-audio-deepfake-detection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7200" y="630936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AAAAAA"/>
                </a:solidFill>
              </a:rPr>
              <a:t>Mann &amp; Whitney (1947) | Cohen (1988) | Benjamini &amp; Hochberg (1995) | Kruskal &amp; Wallis (1952) | Kim &amp; Stern (2016)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Statistics for Audio Deepfake Detection</dc:title>
  <dc:subject>PptxGenJS Presentation</dc:subject>
  <dc:creator>Yash Sukhdeve</dc:creator>
  <cp:lastModifiedBy>Yash Sukhdeve</cp:lastModifiedBy>
  <cp:revision>1</cp:revision>
  <dcterms:created xsi:type="dcterms:W3CDTF">2026-04-10T02:54:37Z</dcterms:created>
  <dcterms:modified xsi:type="dcterms:W3CDTF">2026-04-10T02:54:37Z</dcterms:modified>
</cp:coreProperties>
</file>